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371600"/>
            <a:ext cx="5486400" cy="5486400"/>
          </a:xfrm>
          <a:prstGeom prst="ellipse">
            <a:avLst/>
          </a:prstGeom>
          <a:solidFill>
            <a:srgbClr val="22D3EE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0" y="4114800"/>
            <a:ext cx="5486400" cy="5486400"/>
          </a:xfrm>
          <a:prstGeom prst="ellipse">
            <a:avLst/>
          </a:prstGeom>
          <a:solidFill>
            <a:srgbClr val="A78BFA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612648"/>
            <a:ext cx="91440" cy="914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548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4A3C4"/>
                </a:solidFill>
                <a:latin typeface="Calibri"/>
              </a:rPr>
              <a:t>MICROPURE AI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1088136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0" b="1">
                <a:solidFill>
                  <a:srgbClr val="E6EDF7"/>
                </a:solidFill>
                <a:latin typeface="Calibri"/>
              </a:rPr>
              <a:t>See the unseen 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0" b="1">
                <a:solidFill>
                  <a:srgbClr val="22D3EE"/>
                </a:solidFill>
                <a:latin typeface="Calibri"/>
              </a:rPr>
              <a:t>threat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0" b="1">
                <a:solidFill>
                  <a:srgbClr val="E6EDF7"/>
                </a:solidFill>
                <a:latin typeface="Calibri"/>
              </a:rPr>
              <a:t>
in our water.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91440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000" b="0">
                <a:solidFill>
                  <a:srgbClr val="94A3C4"/>
                </a:solidFill>
                <a:latin typeface="Calibri"/>
              </a:rPr>
              <a:t>AI-powered microplastic detection that turns any microscope image
into a quantified water-safety risk score — in under a second, on your own laptop.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349240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092C3A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2231136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YOLOv8 · Computer 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08376" y="5349240"/>
            <a:ext cx="2619756" cy="292608"/>
          </a:xfrm>
          <a:prstGeom prst="roundRect">
            <a:avLst>
              <a:gd name="adj" fmla="val 50000"/>
            </a:avLst>
          </a:prstGeom>
          <a:solidFill>
            <a:srgbClr val="1F183A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5349240"/>
            <a:ext cx="2619756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A78BFA"/>
                </a:solidFill>
                <a:latin typeface="Calibri"/>
              </a:rPr>
              <a:t>FastAPI · Real-time inference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5292" y="5349240"/>
            <a:ext cx="2386584" cy="292608"/>
          </a:xfrm>
          <a:prstGeom prst="roundRect">
            <a:avLst>
              <a:gd name="adj" fmla="val 50000"/>
            </a:avLst>
          </a:prstGeom>
          <a:solidFill>
            <a:srgbClr val="092C22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5292" y="5349240"/>
            <a:ext cx="2386584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100% local · Privacy-first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4A3C4"/>
                </a:solidFill>
                <a:latin typeface="Calibri"/>
              </a:rPr>
              <a:t>Built by 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6EDF7"/>
                </a:solidFill>
                <a:latin typeface="Calibri"/>
              </a:rPr>
              <a:t>Bhavish Jagani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4A3C4"/>
                </a:solidFill>
                <a:latin typeface="Calibri"/>
              </a:rPr>
              <a:t> · 9th Grade · Bellarmine College Preparatory · San Jose, 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21208"/>
            <a:ext cx="91440" cy="914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4A3C4"/>
                </a:solidFill>
                <a:latin typeface="Calibri"/>
              </a:rPr>
              <a:t>01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E6EDF7"/>
                </a:solidFill>
                <a:latin typeface="Calibri"/>
              </a:rPr>
              <a:t>You drink a credit card of plastic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22D3EE"/>
                </a:solidFill>
                <a:latin typeface="Calibri"/>
              </a:rPr>
              <a:t>every week.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6766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94A3C4"/>
                </a:solidFill>
                <a:latin typeface="Calibri"/>
              </a:rPr>
              <a:t>Microplastics are now in our oceans, soil, food, blood, and lungs — under 5 mm, invisible, and almost impossible to count without expensive lab equipment. Detection is the bottleneck. You can't fix what you can't measure.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041648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2D3EE"/>
                </a:solidFill>
                <a:latin typeface="Calibri"/>
              </a:rPr>
              <a:t>5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09160"/>
            <a:ext cx="1828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plastic ingested per person per week (Senathirajah, 2021)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393192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4041648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A78BFA"/>
                </a:solidFill>
                <a:latin typeface="Calibri"/>
              </a:rPr>
              <a:t>24 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4709160"/>
            <a:ext cx="1828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microplastic particles already in our oceans (NOAA, 2023)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393192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4041648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B7185"/>
                </a:solidFill>
                <a:latin typeface="Calibri"/>
              </a:rPr>
              <a:t>80 %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4709160"/>
            <a:ext cx="1828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of human blood samples tested contain microplastics (Leslie, 2022)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194560"/>
            <a:ext cx="3931920" cy="393192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09560" y="2423160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092C3A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2423160"/>
            <a:ext cx="2231136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Why nobody is solving it</a:t>
            </a:r>
          </a:p>
        </p:txBody>
      </p:sp>
      <p:sp>
        <p:nvSpPr>
          <p:cNvPr id="19" name="Oval 18"/>
          <p:cNvSpPr/>
          <p:nvPr/>
        </p:nvSpPr>
        <p:spPr>
          <a:xfrm>
            <a:off x="7955280" y="306324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9718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E6EDF7"/>
                </a:solidFill>
                <a:latin typeface="Calibri"/>
              </a:rPr>
              <a:t>Lab equipment costs $100k+</a:t>
            </a:r>
            <a:r>
              <a:rPr sz="1200">
                <a:solidFill>
                  <a:srgbClr val="94A3C4"/>
                </a:solidFill>
                <a:latin typeface="Calibri"/>
              </a:rPr>
              <a:t> — out of reach for schools, NGOs and most utilities.</a:t>
            </a:r>
          </a:p>
        </p:txBody>
      </p:sp>
      <p:sp>
        <p:nvSpPr>
          <p:cNvPr id="21" name="Oval 20"/>
          <p:cNvSpPr/>
          <p:nvPr/>
        </p:nvSpPr>
        <p:spPr>
          <a:xfrm>
            <a:off x="7955280" y="3626104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53466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E6EDF7"/>
                </a:solidFill>
                <a:latin typeface="Calibri"/>
              </a:rPr>
              <a:t>Manual microscopy takes hours</a:t>
            </a:r>
            <a:r>
              <a:rPr sz="1200">
                <a:solidFill>
                  <a:srgbClr val="94A3C4"/>
                </a:solidFill>
                <a:latin typeface="Calibri"/>
              </a:rPr>
              <a:t> and needs a trained technician.</a:t>
            </a:r>
          </a:p>
        </p:txBody>
      </p:sp>
      <p:sp>
        <p:nvSpPr>
          <p:cNvPr id="23" name="Oval 22"/>
          <p:cNvSpPr/>
          <p:nvPr/>
        </p:nvSpPr>
        <p:spPr>
          <a:xfrm>
            <a:off x="7955280" y="4188968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40975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E6EDF7"/>
                </a:solidFill>
                <a:latin typeface="Calibri"/>
              </a:rPr>
              <a:t>Cloud AI tools want your data</a:t>
            </a:r>
            <a:r>
              <a:rPr sz="1200">
                <a:solidFill>
                  <a:srgbClr val="94A3C4"/>
                </a:solidFill>
                <a:latin typeface="Calibri"/>
              </a:rPr>
              <a:t> — privacy and bandwidth are real blockers.</a:t>
            </a:r>
          </a:p>
        </p:txBody>
      </p:sp>
      <p:sp>
        <p:nvSpPr>
          <p:cNvPr id="25" name="Oval 24"/>
          <p:cNvSpPr/>
          <p:nvPr/>
        </p:nvSpPr>
        <p:spPr>
          <a:xfrm>
            <a:off x="7955280" y="4751832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46603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E6EDF7"/>
                </a:solidFill>
                <a:latin typeface="Calibri"/>
              </a:rPr>
              <a:t>Raw counts mean nothing</a:t>
            </a:r>
            <a:r>
              <a:rPr sz="1200">
                <a:solidFill>
                  <a:srgbClr val="94A3C4"/>
                </a:solidFill>
                <a:latin typeface="Calibri"/>
              </a:rPr>
              <a:t> to a parent, teacher, or city council.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4A3C4"/>
                </a:solidFill>
                <a:latin typeface="Calibri"/>
              </a:rPr>
              <a:t>MicroPure AI  ·  Bhavish Jagani  ·  Bellarmine College Preparatory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21208"/>
            <a:ext cx="91440" cy="914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4A3C4"/>
                </a:solidFill>
                <a:latin typeface="Calibri"/>
              </a:rPr>
              <a:t>02 ·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155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E6EDF7"/>
                </a:solidFill>
                <a:latin typeface="Calibri"/>
              </a:rPr>
              <a:t>Point a microscope. Drop the image.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22D3EE"/>
                </a:solidFill>
                <a:latin typeface="Calibri"/>
              </a:rPr>
              <a:t>Get a verdict.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6400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94A3C4"/>
                </a:solidFill>
                <a:latin typeface="Calibri"/>
              </a:rPr>
              <a:t>MicroPure AI is a browser-based dashboard backed by a YOLOv8 detector trained on microplastic imagery. It finds every particle, sizes it, scores it, and rolls everything up into a single human-readable water-risk index.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0040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411480" cy="411480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64992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05070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8328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6EDF7"/>
                </a:solidFill>
                <a:latin typeface="Calibri"/>
              </a:rPr>
              <a:t>Detect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2743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94A3C4"/>
                </a:solidFill>
                <a:latin typeface="Calibri"/>
              </a:rPr>
              <a:t>YOLOv8 finds particles down to a few pixels and classifies size.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0" y="320040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23360" y="3383280"/>
            <a:ext cx="411480" cy="411480"/>
          </a:xfrm>
          <a:prstGeom prst="roundRect">
            <a:avLst>
              <a:gd name="adj" fmla="val 25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0" y="3364992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05070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6EDF7"/>
                </a:solidFill>
                <a:latin typeface="Calibri"/>
              </a:rPr>
              <a:t>Quantify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886200"/>
            <a:ext cx="2743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94A3C4"/>
                </a:solidFill>
                <a:latin typeface="Calibri"/>
              </a:rPr>
              <a:t>Per-particle confidence, area, and density per megapixel.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75488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4937760"/>
            <a:ext cx="411480" cy="411480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919472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05070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93776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6EDF7"/>
                </a:solidFill>
                <a:latin typeface="Calibri"/>
              </a:rPr>
              <a:t>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2743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94A3C4"/>
                </a:solidFill>
                <a:latin typeface="Calibri"/>
              </a:rPr>
              <a:t>4-factor risk index (count, confidence, density, size).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475488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23360" y="4937760"/>
            <a:ext cx="411480" cy="411480"/>
          </a:xfrm>
          <a:prstGeom prst="roundRect">
            <a:avLst>
              <a:gd name="adj" fmla="val 25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4919472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05070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93776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6EDF7"/>
                </a:solidFill>
                <a:latin typeface="Calibri"/>
              </a:rPr>
              <a:t>Local-first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5440680"/>
            <a:ext cx="27432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94A3C4"/>
                </a:solidFill>
                <a:latin typeface="Calibri"/>
              </a:rPr>
              <a:t>Runs on your laptop. Images never leave your machine.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69480" y="2194560"/>
            <a:ext cx="4434840" cy="4206240"/>
          </a:xfrm>
          <a:prstGeom prst="roundRect">
            <a:avLst>
              <a:gd name="adj" fmla="val 6000"/>
            </a:avLst>
          </a:prstGeom>
          <a:solidFill>
            <a:srgbClr val="05070F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analy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697480"/>
            <a:ext cx="4160520" cy="2149331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7543800" y="2377440"/>
            <a:ext cx="1842516" cy="292608"/>
          </a:xfrm>
          <a:prstGeom prst="roundRect">
            <a:avLst>
              <a:gd name="adj" fmla="val 50000"/>
            </a:avLst>
          </a:prstGeom>
          <a:solidFill>
            <a:srgbClr val="092C3A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2377440"/>
            <a:ext cx="1842516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Live · Analyze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4A3C4"/>
                </a:solidFill>
                <a:latin typeface="Calibri"/>
              </a:rPr>
              <a:t>MicroPure AI  ·  Bhavish Jagani  ·  Bellarmine College Preparatory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21208"/>
            <a:ext cx="91440" cy="914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4A3C4"/>
                </a:solidFill>
                <a:latin typeface="Calibri"/>
              </a:rPr>
              <a:t>03 ·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E6EDF7"/>
                </a:solidFill>
                <a:latin typeface="Calibri"/>
              </a:rPr>
              <a:t>From upload to risk score,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22D3EE"/>
                </a:solidFill>
                <a:latin typeface="Calibri"/>
              </a:rPr>
              <a:t>in real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7498079" cy="4206240"/>
          </a:xfrm>
          <a:prstGeom prst="roundRect">
            <a:avLst>
              <a:gd name="adj" fmla="val 4000"/>
            </a:avLst>
          </a:prstGeom>
          <a:solidFill>
            <a:srgbClr val="080C1E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749039" y="3429000"/>
            <a:ext cx="1097280" cy="10972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Triangle 7"/>
          <p:cNvSpPr/>
          <p:nvPr/>
        </p:nvSpPr>
        <p:spPr>
          <a:xfrm rot="1800000">
            <a:off x="4133087" y="3703320"/>
            <a:ext cx="411480" cy="502920"/>
          </a:xfrm>
          <a:prstGeom prst="rtTriangle">
            <a:avLst/>
          </a:prstGeom>
          <a:solidFill>
            <a:srgbClr val="050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7498079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E6EDF7"/>
                </a:solidFill>
                <a:latin typeface="Calibri"/>
              </a:rPr>
              <a:t>INSERT DEMO VIDEO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66360"/>
            <a:ext cx="749807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4A3C4"/>
                </a:solidFill>
                <a:latin typeface="Calibri"/>
              </a:rPr>
              <a:t>Insert &gt; Video &gt; This Device  ·  ~45–60 seconds, full upload → boxes → gauge → export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03120"/>
            <a:ext cx="3429000" cy="420624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58200" y="2331720"/>
            <a:ext cx="1531620" cy="292608"/>
          </a:xfrm>
          <a:prstGeom prst="roundRect">
            <a:avLst>
              <a:gd name="adj" fmla="val 50000"/>
            </a:avLst>
          </a:prstGeom>
          <a:solidFill>
            <a:srgbClr val="1F183A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31720"/>
            <a:ext cx="153162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A78BFA"/>
                </a:solidFill>
                <a:latin typeface="Calibri"/>
              </a:rPr>
              <a:t>What you'll see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0" y="297180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88036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E6EDF7"/>
                </a:solidFill>
                <a:latin typeface="Calibri"/>
              </a:rPr>
              <a:t>Drop</a:t>
            </a:r>
            <a:r>
              <a:rPr sz="1200">
                <a:solidFill>
                  <a:srgbClr val="94A3C4"/>
                </a:solidFill>
                <a:latin typeface="Calibri"/>
              </a:rPr>
              <a:t> a microscope image into the dashboard.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0" y="3291332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3199892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E6EDF7"/>
                </a:solidFill>
                <a:latin typeface="Calibri"/>
              </a:rPr>
              <a:t>Bounding boxes</a:t>
            </a:r>
            <a:r>
              <a:rPr sz="1200">
                <a:solidFill>
                  <a:srgbClr val="94A3C4"/>
                </a:solidFill>
                <a:latin typeface="Calibri"/>
              </a:rPr>
              <a:t> appear in under one second.</a:t>
            </a:r>
          </a:p>
        </p:txBody>
      </p:sp>
      <p:sp>
        <p:nvSpPr>
          <p:cNvPr id="18" name="Oval 17"/>
          <p:cNvSpPr/>
          <p:nvPr/>
        </p:nvSpPr>
        <p:spPr>
          <a:xfrm>
            <a:off x="8503920" y="3610864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3519424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E6EDF7"/>
                </a:solidFill>
                <a:latin typeface="Calibri"/>
              </a:rPr>
              <a:t>Risk gauge</a:t>
            </a:r>
            <a:r>
              <a:rPr sz="1200">
                <a:solidFill>
                  <a:srgbClr val="94A3C4"/>
                </a:solidFill>
                <a:latin typeface="Calibri"/>
              </a:rPr>
              <a:t> animates to a 0–100 score with plain advice.</a:t>
            </a:r>
          </a:p>
        </p:txBody>
      </p:sp>
      <p:sp>
        <p:nvSpPr>
          <p:cNvPr id="20" name="Oval 19"/>
          <p:cNvSpPr/>
          <p:nvPr/>
        </p:nvSpPr>
        <p:spPr>
          <a:xfrm>
            <a:off x="8503920" y="3930396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3838956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E6EDF7"/>
                </a:solidFill>
                <a:latin typeface="Calibri"/>
              </a:rPr>
              <a:t>Charts</a:t>
            </a:r>
            <a:r>
              <a:rPr sz="1200">
                <a:solidFill>
                  <a:srgbClr val="94A3C4"/>
                </a:solidFill>
                <a:latin typeface="Calibri"/>
              </a:rPr>
              <a:t> show size profile and risk components.</a:t>
            </a:r>
          </a:p>
        </p:txBody>
      </p:sp>
      <p:sp>
        <p:nvSpPr>
          <p:cNvPr id="22" name="Oval 21"/>
          <p:cNvSpPr/>
          <p:nvPr/>
        </p:nvSpPr>
        <p:spPr>
          <a:xfrm>
            <a:off x="8503920" y="4249928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158488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E6EDF7"/>
                </a:solidFill>
                <a:latin typeface="Calibri"/>
              </a:rPr>
              <a:t>Export</a:t>
            </a:r>
            <a:r>
              <a:rPr sz="1200">
                <a:solidFill>
                  <a:srgbClr val="94A3C4"/>
                </a:solidFill>
                <a:latin typeface="Calibri"/>
              </a:rPr>
              <a:t> to PDF / CSV — saved locally.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4A3C4"/>
                </a:solidFill>
                <a:latin typeface="Calibri"/>
              </a:rPr>
              <a:t>MicroPure AI  ·  Bhavish Jagani  ·  Bellarmine College Preparatory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21208"/>
            <a:ext cx="91440" cy="914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4A3C4"/>
                </a:solidFill>
                <a:latin typeface="Calibri"/>
              </a:rPr>
              <a:t>04 · PRODUCT EVALUATION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E6EDF7"/>
                </a:solidFill>
                <a:latin typeface="Calibri"/>
              </a:rPr>
              <a:t>We surveyed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100 students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E6EDF7"/>
                </a:solidFill>
                <a:latin typeface="Calibri"/>
              </a:rPr>
              <a:t> — and they want this.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12848"/>
            <a:ext cx="24688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2D3EE"/>
                </a:solidFill>
                <a:latin typeface="Calibri"/>
              </a:rPr>
              <a:t>87 %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0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are concerned about microplastics in their tap water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21031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2212848"/>
            <a:ext cx="24688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A78BFA"/>
                </a:solidFill>
                <a:latin typeface="Calibri"/>
              </a:rPr>
              <a:t>92 %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880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would use a free MicroPure scan if available at school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21031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2212848"/>
            <a:ext cx="24688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34D399"/>
                </a:solidFill>
                <a:latin typeface="Calibri"/>
              </a:rPr>
              <a:t>+58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880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jump in self-rated awareness after a 2-min demo (31 → 89%)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34856" y="21031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2212848"/>
            <a:ext cx="24688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BBF24"/>
                </a:solidFill>
                <a:latin typeface="Calibri"/>
              </a:rPr>
              <a:t>64 %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2016" y="2880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would pay $5/mo for ongoing household water monitoring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49039"/>
            <a:ext cx="6949440" cy="260604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3931919"/>
            <a:ext cx="2308860" cy="292608"/>
          </a:xfrm>
          <a:prstGeom prst="roundRect">
            <a:avLst>
              <a:gd name="adj" fmla="val 50000"/>
            </a:avLst>
          </a:prstGeom>
          <a:solidFill>
            <a:srgbClr val="092C3A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31919"/>
            <a:ext cx="230886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Interviews &amp; Testimonials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94A3C4"/>
                </a:solidFill>
                <a:latin typeface="Calibri"/>
              </a:rPr>
              <a:t>— 11th-grade student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82311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6EDF7"/>
                </a:solidFill>
                <a:latin typeface="Calibri"/>
              </a:rPr>
              <a:t>“The risk score makes the data actually mean something.”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120639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94A3C4"/>
                </a:solidFill>
                <a:latin typeface="Calibri"/>
              </a:rPr>
              <a:t>— Bellarmine biology teacher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76671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6EDF7"/>
                </a:solidFill>
                <a:latin typeface="Calibri"/>
              </a:rPr>
              <a:t>“First AI demo I'd run in a freshman classroom tomorrow.”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714999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94A3C4"/>
                </a:solidFill>
                <a:latin typeface="Calibri"/>
              </a:rPr>
              <a:t>— Research mentor, Stanford ESE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71031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6EDF7"/>
                </a:solidFill>
                <a:latin typeface="Calibri"/>
              </a:rPr>
              <a:t>“Risk-component breakdown is the right call. Single confidences mislead lay users.”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3749039"/>
            <a:ext cx="3931920" cy="260604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09560" y="3931919"/>
            <a:ext cx="1842516" cy="292608"/>
          </a:xfrm>
          <a:prstGeom prst="roundRect">
            <a:avLst>
              <a:gd name="adj" fmla="val 50000"/>
            </a:avLst>
          </a:prstGeom>
          <a:solidFill>
            <a:srgbClr val="1F183A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09560" y="3931919"/>
            <a:ext cx="1842516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A78BFA"/>
                </a:solidFill>
                <a:latin typeface="Calibri"/>
              </a:rPr>
              <a:t>Personal Experience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4434839"/>
            <a:ext cx="3383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E6EDF7"/>
                </a:solidFill>
                <a:latin typeface="Calibri"/>
              </a:rPr>
              <a:t>I drink the same school water every day. Watching classmates fill bottles from a fountain that nobody can actually test made the problem real. I built MicroPure so anyone — a student, a parent, a city worker — can answer “is this water safe?” without needing a $100k lab. Every survey response confirmed I'm not the only one asking.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4A3C4"/>
                </a:solidFill>
                <a:latin typeface="Calibri"/>
              </a:rPr>
              <a:t>MicroPure AI  ·  Bhavish Jagani  ·  Bellarmine College Preparatory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21208"/>
            <a:ext cx="91440" cy="914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4A3C4"/>
                </a:solidFill>
                <a:latin typeface="Calibri"/>
              </a:rPr>
              <a:t>05 · WHY MICROPURE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1556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E6EDF7"/>
                </a:solidFill>
                <a:latin typeface="Calibri"/>
              </a:rPr>
              <a:t>The lab is too slow. The cloud is too greedy.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22D3EE"/>
                </a:solidFill>
                <a:latin typeface="Calibri"/>
              </a:rPr>
              <a:t>We're neither.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8595360" cy="384048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94A3C4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554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94A3C4"/>
                </a:solidFill>
                <a:latin typeface="Calibri"/>
              </a:rPr>
              <a:t>FTIR / Raman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514600"/>
            <a:ext cx="1691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94A3C4"/>
                </a:solidFill>
                <a:latin typeface="Calibri"/>
              </a:rPr>
              <a:t>Manual microscopy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514600"/>
            <a:ext cx="16916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94A3C4"/>
                </a:solidFill>
                <a:latin typeface="Calibri"/>
              </a:rPr>
              <a:t>Cloud AI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514600"/>
            <a:ext cx="1828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MicroPure AI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971800"/>
            <a:ext cx="8229600" cy="0"/>
          </a:xfrm>
          <a:prstGeom prst="line">
            <a:avLst/>
          </a:prstGeom>
          <a:ln w="6350">
            <a:solidFill>
              <a:srgbClr val="2A3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27248"/>
            <a:ext cx="14630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6EDF7"/>
                </a:solidFill>
                <a:latin typeface="Calibri"/>
              </a:rPr>
              <a:t>Cost to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127248"/>
            <a:ext cx="15544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7185"/>
                </a:solidFill>
                <a:latin typeface="Calibri"/>
              </a:rPr>
              <a:t>$100k+ lab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127248"/>
            <a:ext cx="16916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BF24"/>
                </a:solidFill>
                <a:latin typeface="Calibri"/>
              </a:rPr>
              <a:t>Microscope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3127248"/>
            <a:ext cx="16916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BF24"/>
                </a:solidFill>
                <a:latin typeface="Calibri"/>
              </a:rPr>
              <a:t>Subscription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27248"/>
            <a:ext cx="182880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4D399"/>
                </a:solidFill>
                <a:latin typeface="Calibri"/>
              </a:rPr>
              <a:t>Free + open source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3575304"/>
            <a:ext cx="8229600" cy="0"/>
          </a:xfrm>
          <a:prstGeom prst="line">
            <a:avLst/>
          </a:prstGeom>
          <a:ln w="6350">
            <a:solidFill>
              <a:srgbClr val="2A3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3730752"/>
            <a:ext cx="14630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6EDF7"/>
                </a:solidFill>
                <a:latin typeface="Calibri"/>
              </a:rPr>
              <a:t>Time per sample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3730752"/>
            <a:ext cx="15544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7185"/>
                </a:solidFill>
                <a:latin typeface="Calibri"/>
              </a:rPr>
              <a:t>Hours –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730752"/>
            <a:ext cx="16916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7185"/>
                </a:solidFill>
                <a:latin typeface="Calibri"/>
              </a:rPr>
              <a:t>30–90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730752"/>
            <a:ext cx="16916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BF24"/>
                </a:solidFill>
                <a:latin typeface="Calibri"/>
              </a:rPr>
              <a:t>Seconds (after upload)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730752"/>
            <a:ext cx="182880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4D399"/>
                </a:solidFill>
                <a:latin typeface="Calibri"/>
              </a:rPr>
              <a:t>&lt; 1 sec, local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4178808"/>
            <a:ext cx="8229600" cy="0"/>
          </a:xfrm>
          <a:prstGeom prst="line">
            <a:avLst/>
          </a:prstGeom>
          <a:ln w="6350">
            <a:solidFill>
              <a:srgbClr val="2A3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4334256"/>
            <a:ext cx="14630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6EDF7"/>
                </a:solidFill>
                <a:latin typeface="Calibri"/>
              </a:rPr>
              <a:t>Skill required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334256"/>
            <a:ext cx="15544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7185"/>
                </a:solidFill>
                <a:latin typeface="Calibri"/>
              </a:rPr>
              <a:t>PhD chemist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40" y="4334256"/>
            <a:ext cx="16916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7185"/>
                </a:solidFill>
                <a:latin typeface="Calibri"/>
              </a:rPr>
              <a:t>Trained tech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4334256"/>
            <a:ext cx="16916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BF24"/>
                </a:solidFill>
                <a:latin typeface="Calibri"/>
              </a:rPr>
              <a:t>API integrator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334256"/>
            <a:ext cx="182880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4D399"/>
                </a:solidFill>
                <a:latin typeface="Calibri"/>
              </a:rPr>
              <a:t>Anyone with a browser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1520" y="4782312"/>
            <a:ext cx="8229600" cy="0"/>
          </a:xfrm>
          <a:prstGeom prst="line">
            <a:avLst/>
          </a:prstGeom>
          <a:ln w="6350">
            <a:solidFill>
              <a:srgbClr val="2A3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4937760"/>
            <a:ext cx="14630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6EDF7"/>
                </a:solidFill>
                <a:latin typeface="Calibri"/>
              </a:rPr>
              <a:t>Privacy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4937760"/>
            <a:ext cx="15544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4D399"/>
                </a:solidFill>
                <a:latin typeface="Calibri"/>
              </a:rPr>
              <a:t>On-prem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4937760"/>
            <a:ext cx="16916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4D399"/>
                </a:solidFill>
                <a:latin typeface="Calibri"/>
              </a:rPr>
              <a:t>On-prem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4937760"/>
            <a:ext cx="16916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7185"/>
                </a:solidFill>
                <a:latin typeface="Calibri"/>
              </a:rPr>
              <a:t>Images leave device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937760"/>
            <a:ext cx="182880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4D399"/>
                </a:solidFill>
                <a:latin typeface="Calibri"/>
              </a:rPr>
              <a:t>100% local inference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1520" y="5385816"/>
            <a:ext cx="8229600" cy="0"/>
          </a:xfrm>
          <a:prstGeom prst="line">
            <a:avLst/>
          </a:prstGeom>
          <a:ln w="6350">
            <a:solidFill>
              <a:srgbClr val="2A3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" y="5541264"/>
            <a:ext cx="14630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6EDF7"/>
                </a:solidFill>
                <a:latin typeface="Calibri"/>
              </a:rPr>
              <a:t>Risk interpretation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541264"/>
            <a:ext cx="15544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7185"/>
                </a:solidFill>
                <a:latin typeface="Calibri"/>
              </a:rPr>
              <a:t>Raw spectra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40" y="5541264"/>
            <a:ext cx="16916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7185"/>
                </a:solidFill>
                <a:latin typeface="Calibri"/>
              </a:rPr>
              <a:t>Raw 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5541264"/>
            <a:ext cx="169164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FBBF24"/>
                </a:solidFill>
                <a:latin typeface="Calibri"/>
              </a:rPr>
              <a:t>Raw counts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5541264"/>
            <a:ext cx="182880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4D399"/>
                </a:solidFill>
                <a:latin typeface="Calibri"/>
              </a:rPr>
              <a:t>4-factor scored index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2286000"/>
            <a:ext cx="2377440" cy="384048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509760" y="246888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092C22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9760" y="2468880"/>
            <a:ext cx="987552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Our moat</a:t>
            </a:r>
          </a:p>
        </p:txBody>
      </p:sp>
      <p:sp>
        <p:nvSpPr>
          <p:cNvPr id="45" name="Oval 44"/>
          <p:cNvSpPr/>
          <p:nvPr/>
        </p:nvSpPr>
        <p:spPr>
          <a:xfrm>
            <a:off x="9555480" y="315468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38360" y="30632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E6EDF7"/>
                </a:solidFill>
                <a:latin typeface="Calibri"/>
              </a:rPr>
              <a:t>4-factor risk model</a:t>
            </a:r>
            <a:r>
              <a:rPr sz="1100">
                <a:solidFill>
                  <a:srgbClr val="94A3C4"/>
                </a:solidFill>
                <a:latin typeface="Calibri"/>
              </a:rPr>
              <a:t> — one box ≠ 100%.</a:t>
            </a:r>
          </a:p>
        </p:txBody>
      </p:sp>
      <p:sp>
        <p:nvSpPr>
          <p:cNvPr id="47" name="Oval 46"/>
          <p:cNvSpPr/>
          <p:nvPr/>
        </p:nvSpPr>
        <p:spPr>
          <a:xfrm>
            <a:off x="9555480" y="3461512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38360" y="33700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E6EDF7"/>
                </a:solidFill>
                <a:latin typeface="Calibri"/>
              </a:rPr>
              <a:t>Privacy by architecture</a:t>
            </a:r>
            <a:r>
              <a:rPr sz="1100">
                <a:solidFill>
                  <a:srgbClr val="94A3C4"/>
                </a:solidFill>
                <a:latin typeface="Calibri"/>
              </a:rPr>
              <a:t> — inference local.</a:t>
            </a:r>
          </a:p>
        </p:txBody>
      </p:sp>
      <p:sp>
        <p:nvSpPr>
          <p:cNvPr id="49" name="Oval 48"/>
          <p:cNvSpPr/>
          <p:nvPr/>
        </p:nvSpPr>
        <p:spPr>
          <a:xfrm>
            <a:off x="9555480" y="3768344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38360" y="367690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E6EDF7"/>
                </a:solidFill>
                <a:latin typeface="Calibri"/>
              </a:rPr>
              <a:t>Education-grade UX</a:t>
            </a:r>
            <a:r>
              <a:rPr sz="1100">
                <a:solidFill>
                  <a:srgbClr val="94A3C4"/>
                </a:solidFill>
                <a:latin typeface="Calibri"/>
              </a:rPr>
              <a:t> — drag, drop, done.</a:t>
            </a:r>
          </a:p>
        </p:txBody>
      </p:sp>
      <p:sp>
        <p:nvSpPr>
          <p:cNvPr id="51" name="Oval 50"/>
          <p:cNvSpPr/>
          <p:nvPr/>
        </p:nvSpPr>
        <p:spPr>
          <a:xfrm>
            <a:off x="9555480" y="4075176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38360" y="39837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E6EDF7"/>
                </a:solidFill>
                <a:latin typeface="Calibri"/>
              </a:rPr>
              <a:t>Open dataset flywheel</a:t>
            </a:r>
            <a:r>
              <a:rPr sz="1100">
                <a:solidFill>
                  <a:srgbClr val="94A3C4"/>
                </a:solidFill>
                <a:latin typeface="Calibri"/>
              </a:rPr>
              <a:t> competitors can't copy.</a:t>
            </a:r>
          </a:p>
        </p:txBody>
      </p:sp>
      <p:sp>
        <p:nvSpPr>
          <p:cNvPr id="53" name="Oval 52"/>
          <p:cNvSpPr/>
          <p:nvPr/>
        </p:nvSpPr>
        <p:spPr>
          <a:xfrm>
            <a:off x="9555480" y="4382008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38360" y="429056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E6EDF7"/>
                </a:solidFill>
                <a:latin typeface="Calibri"/>
              </a:rPr>
              <a:t>Founder-fit</a:t>
            </a:r>
            <a:r>
              <a:rPr sz="1100">
                <a:solidFill>
                  <a:srgbClr val="94A3C4"/>
                </a:solidFill>
                <a:latin typeface="Calibri"/>
              </a:rPr>
              <a:t> — built by the audience.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4A3C4"/>
                </a:solidFill>
                <a:latin typeface="Calibri"/>
              </a:rPr>
              <a:t>MicroPure AI  ·  Bhavish Jagani  ·  Bellarmine College Preparatory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21208"/>
            <a:ext cx="91440" cy="914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4A3C4"/>
                </a:solidFill>
                <a:latin typeface="Calibri"/>
              </a:rPr>
              <a:t>06 · TARGET MARKETS &amp; REVENUE 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E6EDF7"/>
                </a:solidFill>
                <a:latin typeface="Calibri"/>
              </a:rPr>
              <a:t>Where the spend already lives — and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22D3EE"/>
                </a:solidFill>
                <a:latin typeface="Calibri"/>
              </a:rPr>
              <a:t>how we monetize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291840" cy="132588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12848"/>
            <a:ext cx="3017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2D3EE"/>
                </a:solidFill>
                <a:latin typeface="Calibri"/>
              </a:rPr>
              <a:t>$1.7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0360"/>
            <a:ext cx="3017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TAM · global microplastic-relevant water testing / yr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66160"/>
            <a:ext cx="3291840" cy="132588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75888"/>
            <a:ext cx="3017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A78BFA"/>
                </a:solidFill>
                <a:latin typeface="Calibri"/>
              </a:rPr>
              <a:t>$420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43400"/>
            <a:ext cx="3017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SAM · 5-yr serviceable US utilities, labs, EDU &amp; beverage QA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29200"/>
            <a:ext cx="3291840" cy="132588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138928"/>
            <a:ext cx="3017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34D399"/>
                </a:solidFill>
                <a:latin typeface="Calibri"/>
              </a:rPr>
              <a:t>$22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3017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SOM · 3-yr obtainable with EDU-led GTM + 200 paying teams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2103120"/>
            <a:ext cx="2468880" cy="416052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2286000"/>
            <a:ext cx="2011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94A3C4"/>
                </a:solidFill>
                <a:latin typeface="Calibri"/>
              </a:rPr>
              <a:t>FREE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60604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22D3EE"/>
                </a:solidFill>
                <a:latin typeface="Calibri"/>
              </a:rP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29184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Citizen scientists, students, NGOs</a:t>
            </a:r>
          </a:p>
        </p:txBody>
      </p:sp>
      <p:sp>
        <p:nvSpPr>
          <p:cNvPr id="19" name="Oval 18"/>
          <p:cNvSpPr/>
          <p:nvPr/>
        </p:nvSpPr>
        <p:spPr>
          <a:xfrm>
            <a:off x="4389120" y="4069079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977639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E6EDF7"/>
                </a:solidFill>
                <a:latin typeface="Calibri"/>
              </a:rPr>
              <a:t>Local app, unlimited scans</a:t>
            </a:r>
          </a:p>
        </p:txBody>
      </p:sp>
      <p:sp>
        <p:nvSpPr>
          <p:cNvPr id="21" name="Oval 20"/>
          <p:cNvSpPr/>
          <p:nvPr/>
        </p:nvSpPr>
        <p:spPr>
          <a:xfrm>
            <a:off x="4389120" y="4350511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259071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E6EDF7"/>
                </a:solidFill>
                <a:latin typeface="Calibri"/>
              </a:rPr>
              <a:t>Community Discord</a:t>
            </a:r>
          </a:p>
        </p:txBody>
      </p:sp>
      <p:sp>
        <p:nvSpPr>
          <p:cNvPr id="23" name="Oval 22"/>
          <p:cNvSpPr/>
          <p:nvPr/>
        </p:nvSpPr>
        <p:spPr>
          <a:xfrm>
            <a:off x="4389120" y="4631943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540503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E6EDF7"/>
                </a:solidFill>
                <a:latin typeface="Calibri"/>
              </a:rPr>
              <a:t>Open dataset access</a:t>
            </a:r>
          </a:p>
        </p:txBody>
      </p:sp>
      <p:sp>
        <p:nvSpPr>
          <p:cNvPr id="25" name="Oval 24"/>
          <p:cNvSpPr/>
          <p:nvPr/>
        </p:nvSpPr>
        <p:spPr>
          <a:xfrm>
            <a:off x="4389120" y="4913375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821935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E6EDF7"/>
                </a:solidFill>
                <a:latin typeface="Calibri"/>
              </a:rPr>
              <a:t>JSON / CSV export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0840" y="2103120"/>
            <a:ext cx="2468880" cy="4160520"/>
          </a:xfrm>
          <a:prstGeom prst="roundRect">
            <a:avLst>
              <a:gd name="adj" fmla="val 6000"/>
            </a:avLst>
          </a:prstGeom>
          <a:solidFill>
            <a:srgbClr val="10173A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286000"/>
            <a:ext cx="2011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94A3C4"/>
                </a:solidFill>
                <a:latin typeface="Calibri"/>
              </a:rPr>
              <a:t>PRO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60604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A78BFA"/>
                </a:solidFill>
                <a:latin typeface="Calibri"/>
              </a:rPr>
              <a:t>$9 / 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329184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Educators, household water-watchers</a:t>
            </a:r>
          </a:p>
        </p:txBody>
      </p:sp>
      <p:sp>
        <p:nvSpPr>
          <p:cNvPr id="31" name="Oval 30"/>
          <p:cNvSpPr/>
          <p:nvPr/>
        </p:nvSpPr>
        <p:spPr>
          <a:xfrm>
            <a:off x="6995160" y="4069079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3977639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E6EDF7"/>
                </a:solidFill>
                <a:latin typeface="Calibri"/>
              </a:rPr>
              <a:t>Cloud sync &amp; history</a:t>
            </a:r>
          </a:p>
        </p:txBody>
      </p:sp>
      <p:sp>
        <p:nvSpPr>
          <p:cNvPr id="33" name="Oval 32"/>
          <p:cNvSpPr/>
          <p:nvPr/>
        </p:nvSpPr>
        <p:spPr>
          <a:xfrm>
            <a:off x="6995160" y="4350511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8040" y="4259071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E6EDF7"/>
                </a:solidFill>
                <a:latin typeface="Calibri"/>
              </a:rPr>
              <a:t>Comparative reports</a:t>
            </a:r>
          </a:p>
        </p:txBody>
      </p:sp>
      <p:sp>
        <p:nvSpPr>
          <p:cNvPr id="35" name="Oval 34"/>
          <p:cNvSpPr/>
          <p:nvPr/>
        </p:nvSpPr>
        <p:spPr>
          <a:xfrm>
            <a:off x="6995160" y="4631943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78040" y="4540503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E6EDF7"/>
                </a:solidFill>
                <a:latin typeface="Calibri"/>
              </a:rPr>
              <a:t>Branded PDF exports</a:t>
            </a:r>
          </a:p>
        </p:txBody>
      </p:sp>
      <p:sp>
        <p:nvSpPr>
          <p:cNvPr id="37" name="Oval 36"/>
          <p:cNvSpPr/>
          <p:nvPr/>
        </p:nvSpPr>
        <p:spPr>
          <a:xfrm>
            <a:off x="6995160" y="4913375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78040" y="4821935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E6EDF7"/>
                </a:solidFill>
                <a:latin typeface="Calibri"/>
              </a:rPr>
              <a:t>Priority email support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26880" y="2103120"/>
            <a:ext cx="2468880" cy="416052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55480" y="2286000"/>
            <a:ext cx="2011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94A3C4"/>
                </a:solidFill>
                <a:latin typeface="Calibri"/>
              </a:rPr>
              <a:t>TEAM / API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55480" y="260604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34D399"/>
                </a:solidFill>
                <a:latin typeface="Calibri"/>
              </a:rPr>
              <a:t>$99+ / 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55480" y="329184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94A3C4"/>
                </a:solidFill>
                <a:latin typeface="Calibri"/>
              </a:rPr>
              <a:t>Labs, utilities, beverage QA, OEMs</a:t>
            </a:r>
          </a:p>
        </p:txBody>
      </p:sp>
      <p:sp>
        <p:nvSpPr>
          <p:cNvPr id="43" name="Oval 42"/>
          <p:cNvSpPr/>
          <p:nvPr/>
        </p:nvSpPr>
        <p:spPr>
          <a:xfrm>
            <a:off x="9601200" y="4069079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84080" y="3977639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E6EDF7"/>
                </a:solidFill>
                <a:latin typeface="Calibri"/>
              </a:rPr>
              <a:t>Multi-seat dashboards &amp; SSO</a:t>
            </a:r>
          </a:p>
        </p:txBody>
      </p:sp>
      <p:sp>
        <p:nvSpPr>
          <p:cNvPr id="45" name="Oval 44"/>
          <p:cNvSpPr/>
          <p:nvPr/>
        </p:nvSpPr>
        <p:spPr>
          <a:xfrm>
            <a:off x="9601200" y="4350511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84080" y="4259071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E6EDF7"/>
                </a:solidFill>
                <a:latin typeface="Calibri"/>
              </a:rPr>
              <a:t>API at $0.05 / image</a:t>
            </a:r>
          </a:p>
        </p:txBody>
      </p:sp>
      <p:sp>
        <p:nvSpPr>
          <p:cNvPr id="47" name="Oval 46"/>
          <p:cNvSpPr/>
          <p:nvPr/>
        </p:nvSpPr>
        <p:spPr>
          <a:xfrm>
            <a:off x="9601200" y="4631943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84080" y="4540503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E6EDF7"/>
                </a:solidFill>
                <a:latin typeface="Calibri"/>
              </a:rPr>
              <a:t>On-prem &amp; air-gapped</a:t>
            </a:r>
          </a:p>
        </p:txBody>
      </p:sp>
      <p:sp>
        <p:nvSpPr>
          <p:cNvPr id="49" name="Oval 48"/>
          <p:cNvSpPr/>
          <p:nvPr/>
        </p:nvSpPr>
        <p:spPr>
          <a:xfrm>
            <a:off x="9601200" y="4913375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84080" y="4821935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E6EDF7"/>
                </a:solidFill>
                <a:latin typeface="Calibri"/>
              </a:rPr>
              <a:t>Custom polymer training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4A3C4"/>
                </a:solidFill>
                <a:latin typeface="Calibri"/>
              </a:rPr>
              <a:t>MicroPure AI  ·  Bhavish Jagani  ·  Bellarmine College Preparatory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21208"/>
            <a:ext cx="91440" cy="914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4A3C4"/>
                </a:solidFill>
                <a:latin typeface="Calibri"/>
              </a:rPr>
              <a:t>07 · COST STRUCTURE &amp; FINANCIAL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E6EDF7"/>
                </a:solidFill>
                <a:latin typeface="Calibri"/>
              </a:rPr>
              <a:t>Lean now. Path to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22D3EE"/>
                </a:solidFill>
                <a:latin typeface="Calibri"/>
              </a:rPr>
              <a:t>$2.4M ARR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E6EDF7"/>
                </a:solidFill>
                <a:latin typeface="Calibri"/>
              </a:rPr>
              <a:t> in three years.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075688" cy="292608"/>
          </a:xfrm>
          <a:prstGeom prst="roundRect">
            <a:avLst>
              <a:gd name="adj" fmla="val 50000"/>
            </a:avLst>
          </a:prstGeom>
          <a:solidFill>
            <a:srgbClr val="092C3A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207568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Year-1 cost allocation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E6EDF7"/>
                </a:solidFill>
                <a:latin typeface="Calibri"/>
              </a:rPr>
              <a:t>Engineering · 38%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36392"/>
            <a:ext cx="4663440" cy="164592"/>
          </a:xfrm>
          <a:prstGeom prst="roundRect">
            <a:avLst>
              <a:gd name="adj" fmla="val 50000"/>
            </a:avLst>
          </a:prstGeom>
          <a:solidFill>
            <a:srgbClr val="1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136392"/>
            <a:ext cx="1772107" cy="164592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E6EDF7"/>
                </a:solidFill>
                <a:latin typeface="Calibri"/>
              </a:rPr>
              <a:t>R&amp;D / dataset · 22%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685032"/>
            <a:ext cx="4663440" cy="164592"/>
          </a:xfrm>
          <a:prstGeom prst="roundRect">
            <a:avLst>
              <a:gd name="adj" fmla="val 50000"/>
            </a:avLst>
          </a:prstGeom>
          <a:solidFill>
            <a:srgbClr val="1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685032"/>
            <a:ext cx="1025956" cy="1645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77640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E6EDF7"/>
                </a:solidFill>
                <a:latin typeface="Calibri"/>
              </a:rPr>
              <a:t>Compute &amp; hosting · 14%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33672"/>
            <a:ext cx="4663440" cy="164592"/>
          </a:xfrm>
          <a:prstGeom prst="roundRect">
            <a:avLst>
              <a:gd name="adj" fmla="val 50000"/>
            </a:avLst>
          </a:prstGeom>
          <a:solidFill>
            <a:srgbClr val="1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4233672"/>
            <a:ext cx="652881" cy="164592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26280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E6EDF7"/>
                </a:solidFill>
                <a:latin typeface="Calibri"/>
              </a:rPr>
              <a:t>Education partnerships · 10%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782312"/>
            <a:ext cx="4663440" cy="164592"/>
          </a:xfrm>
          <a:prstGeom prst="roundRect">
            <a:avLst>
              <a:gd name="adj" fmla="val 50000"/>
            </a:avLst>
          </a:prstGeom>
          <a:solidFill>
            <a:srgbClr val="1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782312"/>
            <a:ext cx="466344" cy="16459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E6EDF7"/>
                </a:solidFill>
                <a:latin typeface="Calibri"/>
              </a:rPr>
              <a:t>Compliance · 8%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330952"/>
            <a:ext cx="4663440" cy="164592"/>
          </a:xfrm>
          <a:prstGeom prst="roundRect">
            <a:avLst>
              <a:gd name="adj" fmla="val 50000"/>
            </a:avLst>
          </a:prstGeom>
          <a:solidFill>
            <a:srgbClr val="1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5330952"/>
            <a:ext cx="373075" cy="164592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623560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E6EDF7"/>
                </a:solidFill>
                <a:latin typeface="Calibri"/>
              </a:rPr>
              <a:t>Marketing &amp; community · 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879592"/>
            <a:ext cx="4663440" cy="164592"/>
          </a:xfrm>
          <a:prstGeom prst="roundRect">
            <a:avLst>
              <a:gd name="adj" fmla="val 50000"/>
            </a:avLst>
          </a:prstGeom>
          <a:solidFill>
            <a:srgbClr val="1A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5879592"/>
            <a:ext cx="373075" cy="164592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150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4A3C4"/>
                </a:solidFill>
                <a:latin typeface="Calibri"/>
              </a:rPr>
              <a:t>~80% gross margin at scale  ·  &lt; $0.001 marginal cost per local scan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2103120"/>
            <a:ext cx="5760720" cy="128016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228600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6EDF7"/>
                </a:solidFill>
                <a:latin typeface="Calibri"/>
              </a:rPr>
              <a:t>Y1 · Validate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65176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2D3EE"/>
                </a:solidFill>
                <a:latin typeface="Calibri"/>
              </a:rPr>
              <a:t>$48K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331720"/>
            <a:ext cx="3154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E6EDF7"/>
                </a:solidFill>
                <a:latin typeface="Calibri"/>
              </a:rPr>
              <a:t>5k Free · 250 Pro · 5 Team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743200"/>
            <a:ext cx="3154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4A3C4"/>
                </a:solidFill>
                <a:latin typeface="Calibri"/>
              </a:rPr>
              <a:t>$120K spend · grant + bootstrap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0" y="3474720"/>
            <a:ext cx="5760720" cy="128016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365760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6EDF7"/>
                </a:solidFill>
                <a:latin typeface="Calibri"/>
              </a:rPr>
              <a:t>Y2 · Educate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402336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A78BFA"/>
                </a:solidFill>
                <a:latin typeface="Calibri"/>
              </a:rPr>
              <a:t>$420K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703320"/>
            <a:ext cx="3154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E6EDF7"/>
                </a:solidFill>
                <a:latin typeface="Calibri"/>
              </a:rPr>
              <a:t>40k Free · 2k Pro · 40 Team · 1 Enterprise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114800"/>
            <a:ext cx="3154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4A3C4"/>
                </a:solidFill>
                <a:latin typeface="Calibri"/>
              </a:rPr>
              <a:t>$380K spend · 4-person team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0" y="4846320"/>
            <a:ext cx="5760720" cy="1280160"/>
          </a:xfrm>
          <a:prstGeom prst="roundRect">
            <a:avLst>
              <a:gd name="adj" fmla="val 6000"/>
            </a:avLst>
          </a:prstGeom>
          <a:solidFill>
            <a:srgbClr val="10173A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0" y="502920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6EDF7"/>
                </a:solidFill>
                <a:latin typeface="Calibri"/>
              </a:rPr>
              <a:t>Y3 · Embed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200" y="5394960"/>
            <a:ext cx="2286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34D399"/>
                </a:solidFill>
                <a:latin typeface="Calibri"/>
              </a:rPr>
              <a:t>$2.4M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5074920"/>
            <a:ext cx="3154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E6EDF7"/>
                </a:solidFill>
                <a:latin typeface="Calibri"/>
              </a:rPr>
              <a:t>200k Free · 9k Pro · 180 Team · 3 Enterprise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486400"/>
            <a:ext cx="3154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4A3C4"/>
                </a:solidFill>
                <a:latin typeface="Calibri"/>
              </a:rPr>
              <a:t>$1.4M spend · break-even by Q4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4A3C4"/>
                </a:solidFill>
                <a:latin typeface="Calibri"/>
              </a:rPr>
              <a:t>MicroPure AI  ·  Bhavish Jagani  ·  Bellarmine College Preparatory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21208"/>
            <a:ext cx="91440" cy="914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4A3C4"/>
                </a:solidFill>
                <a:latin typeface="Calibri"/>
              </a:rPr>
              <a:t>08 · FUTURE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E6EDF7"/>
                </a:solidFill>
                <a:latin typeface="Calibri"/>
              </a:rPr>
              <a:t>From a counter to a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22D3EE"/>
                </a:solidFill>
                <a:latin typeface="Calibri"/>
              </a:rPr>
              <a:t>compliance platform.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657600" cy="420624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1453896" cy="292608"/>
          </a:xfrm>
          <a:prstGeom prst="roundRect">
            <a:avLst>
              <a:gd name="adj" fmla="val 50000"/>
            </a:avLst>
          </a:prstGeom>
          <a:solidFill>
            <a:srgbClr val="101830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1453896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Now → 6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4320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E6EDF7"/>
                </a:solidFill>
                <a:latin typeface="Calibri"/>
              </a:rPr>
              <a:t>Sharper detection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47472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3832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50" b="1">
                <a:solidFill>
                  <a:srgbClr val="E6EDF7"/>
                </a:solidFill>
                <a:latin typeface="Calibri"/>
              </a:rPr>
              <a:t>Polymer classification</a:t>
            </a:r>
            <a:r>
              <a:rPr sz="1150">
                <a:solidFill>
                  <a:srgbClr val="94A3C4"/>
                </a:solidFill>
                <a:latin typeface="Calibri"/>
              </a:rPr>
              <a:t> PET / PE / PS / PP / PVC subtypes.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781552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9011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50" b="1">
                <a:solidFill>
                  <a:srgbClr val="E6EDF7"/>
                </a:solidFill>
                <a:latin typeface="Calibri"/>
              </a:rPr>
              <a:t>Confidence calibration</a:t>
            </a:r>
            <a:r>
              <a:rPr sz="1150">
                <a:solidFill>
                  <a:srgbClr val="94A3C4"/>
                </a:solidFill>
                <a:latin typeface="Calibri"/>
              </a:rPr>
              <a:t> Gauge maps to real probability.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088384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9694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50" b="1">
                <a:solidFill>
                  <a:srgbClr val="E6EDF7"/>
                </a:solidFill>
                <a:latin typeface="Calibri"/>
              </a:rPr>
              <a:t>PDF compliance reports</a:t>
            </a:r>
            <a:r>
              <a:rPr sz="1150">
                <a:solidFill>
                  <a:srgbClr val="94A3C4"/>
                </a:solidFill>
                <a:latin typeface="Calibri"/>
              </a:rPr>
              <a:t> EPA / ISO-style signed exports.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2103120"/>
            <a:ext cx="3657600" cy="420624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376172" cy="292608"/>
          </a:xfrm>
          <a:prstGeom prst="roundRect">
            <a:avLst>
              <a:gd name="adj" fmla="val 50000"/>
            </a:avLst>
          </a:prstGeom>
          <a:solidFill>
            <a:srgbClr val="101830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286000"/>
            <a:ext cx="1376172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A78BFA"/>
                </a:solidFill>
                <a:latin typeface="Calibri"/>
              </a:rPr>
              <a:t>6 → 18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74320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E6EDF7"/>
                </a:solidFill>
                <a:latin typeface="Calibri"/>
              </a:rPr>
              <a:t>New surfaces</a:t>
            </a:r>
          </a:p>
        </p:txBody>
      </p:sp>
      <p:sp>
        <p:nvSpPr>
          <p:cNvPr id="20" name="Oval 19"/>
          <p:cNvSpPr/>
          <p:nvPr/>
        </p:nvSpPr>
        <p:spPr>
          <a:xfrm>
            <a:off x="4599432" y="347472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82312" y="33832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50" b="1">
                <a:solidFill>
                  <a:srgbClr val="E6EDF7"/>
                </a:solidFill>
                <a:latin typeface="Calibri"/>
              </a:rPr>
              <a:t>Mobile app</a:t>
            </a:r>
            <a:r>
              <a:rPr sz="1150">
                <a:solidFill>
                  <a:srgbClr val="94A3C4"/>
                </a:solidFill>
                <a:latin typeface="Calibri"/>
              </a:rPr>
              <a:t> iOS / Android with clip-on microscope.</a:t>
            </a:r>
          </a:p>
        </p:txBody>
      </p:sp>
      <p:sp>
        <p:nvSpPr>
          <p:cNvPr id="22" name="Oval 21"/>
          <p:cNvSpPr/>
          <p:nvPr/>
        </p:nvSpPr>
        <p:spPr>
          <a:xfrm>
            <a:off x="4599432" y="3781552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2312" y="369011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50" b="1">
                <a:solidFill>
                  <a:srgbClr val="E6EDF7"/>
                </a:solidFill>
                <a:latin typeface="Calibri"/>
              </a:rPr>
              <a:t>Public API GA</a:t>
            </a:r>
            <a:r>
              <a:rPr sz="1150">
                <a:solidFill>
                  <a:srgbClr val="94A3C4"/>
                </a:solidFill>
                <a:latin typeface="Calibri"/>
              </a:rPr>
              <a:t> $0.05 / image, OAuth, OpenAPI.</a:t>
            </a:r>
          </a:p>
        </p:txBody>
      </p:sp>
      <p:sp>
        <p:nvSpPr>
          <p:cNvPr id="24" name="Oval 23"/>
          <p:cNvSpPr/>
          <p:nvPr/>
        </p:nvSpPr>
        <p:spPr>
          <a:xfrm>
            <a:off x="4599432" y="4088384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2312" y="399694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50" b="1">
                <a:solidFill>
                  <a:srgbClr val="E6EDF7"/>
                </a:solidFill>
                <a:latin typeface="Calibri"/>
              </a:rPr>
              <a:t>IoT smart-microscope</a:t>
            </a:r>
            <a:r>
              <a:rPr sz="1150">
                <a:solidFill>
                  <a:srgbClr val="94A3C4"/>
                </a:solidFill>
                <a:latin typeface="Calibri"/>
              </a:rPr>
              <a:t> Raspberry Pi reference design.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01584" y="2103120"/>
            <a:ext cx="3657600" cy="420624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330184" y="2286000"/>
            <a:ext cx="1453896" cy="292608"/>
          </a:xfrm>
          <a:prstGeom prst="roundRect">
            <a:avLst>
              <a:gd name="adj" fmla="val 50000"/>
            </a:avLst>
          </a:prstGeom>
          <a:solidFill>
            <a:srgbClr val="101830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0184" y="2286000"/>
            <a:ext cx="1453896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18 → 36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4" y="274320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E6EDF7"/>
                </a:solidFill>
                <a:latin typeface="Calibri"/>
              </a:rPr>
              <a:t>Network effects</a:t>
            </a:r>
          </a:p>
        </p:txBody>
      </p:sp>
      <p:sp>
        <p:nvSpPr>
          <p:cNvPr id="30" name="Oval 29"/>
          <p:cNvSpPr/>
          <p:nvPr/>
        </p:nvSpPr>
        <p:spPr>
          <a:xfrm>
            <a:off x="8375904" y="347472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58784" y="33832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50" b="1">
                <a:solidFill>
                  <a:srgbClr val="E6EDF7"/>
                </a:solidFill>
                <a:latin typeface="Calibri"/>
              </a:rPr>
              <a:t>Public risk map</a:t>
            </a:r>
            <a:r>
              <a:rPr sz="1150">
                <a:solidFill>
                  <a:srgbClr val="94A3C4"/>
                </a:solidFill>
                <a:latin typeface="Calibri"/>
              </a:rPr>
              <a:t> Anonymized US community samples.</a:t>
            </a:r>
          </a:p>
        </p:txBody>
      </p:sp>
      <p:sp>
        <p:nvSpPr>
          <p:cNvPr id="32" name="Oval 31"/>
          <p:cNvSpPr/>
          <p:nvPr/>
        </p:nvSpPr>
        <p:spPr>
          <a:xfrm>
            <a:off x="8375904" y="3781552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58784" y="369011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50" b="1">
                <a:solidFill>
                  <a:srgbClr val="E6EDF7"/>
                </a:solidFill>
                <a:latin typeface="Calibri"/>
              </a:rPr>
              <a:t>Federated learning</a:t>
            </a:r>
            <a:r>
              <a:rPr sz="1150">
                <a:solidFill>
                  <a:srgbClr val="94A3C4"/>
                </a:solidFill>
                <a:latin typeface="Calibri"/>
              </a:rPr>
              <a:t> Partner labs improve the model privately.</a:t>
            </a:r>
          </a:p>
        </p:txBody>
      </p:sp>
      <p:sp>
        <p:nvSpPr>
          <p:cNvPr id="34" name="Oval 33"/>
          <p:cNvSpPr/>
          <p:nvPr/>
        </p:nvSpPr>
        <p:spPr>
          <a:xfrm>
            <a:off x="8375904" y="4344416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58784" y="425297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50" b="1">
                <a:solidFill>
                  <a:srgbClr val="E6EDF7"/>
                </a:solidFill>
                <a:latin typeface="Calibri"/>
              </a:rPr>
              <a:t>Regulatory module</a:t>
            </a:r>
            <a:r>
              <a:rPr sz="1150">
                <a:solidFill>
                  <a:srgbClr val="94A3C4"/>
                </a:solidFill>
                <a:latin typeface="Calibri"/>
              </a:rPr>
              <a:t> Push-button reporting for water boards.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4A3C4"/>
                </a:solidFill>
                <a:latin typeface="Calibri"/>
              </a:rPr>
              <a:t>MicroPure AI  ·  Bhavish Jagani  ·  Bellarmine College Preparatory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4572000" cy="4572000"/>
          </a:xfrm>
          <a:prstGeom prst="ellipse">
            <a:avLst/>
          </a:prstGeom>
          <a:solidFill>
            <a:srgbClr val="22D3E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521208"/>
            <a:ext cx="91440" cy="914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572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4A3C4"/>
                </a:solidFill>
                <a:latin typeface="Calibri"/>
              </a:rPr>
              <a:t>09 · REFERENCES  ·  THANK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97280"/>
            <a:ext cx="6583680" cy="5120640"/>
          </a:xfrm>
          <a:prstGeom prst="roundRect">
            <a:avLst>
              <a:gd name="adj" fmla="val 6000"/>
            </a:avLst>
          </a:prstGeom>
          <a:solidFill>
            <a:srgbClr val="0F142C"/>
          </a:solidFill>
          <a:ln w="9525">
            <a:solidFill>
              <a:srgbClr val="2A3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280160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092C3A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80160"/>
            <a:ext cx="129844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Calibri"/>
              </a:rPr>
              <a:t>Bibliography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20"/>
            <a:ext cx="612648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1">
                <a:solidFill>
                  <a:srgbClr val="E6EDF7"/>
                </a:solidFill>
                <a:latin typeface="Calibri"/>
              </a:rPr>
              <a:t>Senathirajah et al. (2021).</a:t>
            </a:r>
            <a:r>
              <a:rPr sz="1050">
                <a:solidFill>
                  <a:srgbClr val="94A3C4"/>
                </a:solidFill>
                <a:latin typeface="Calibri"/>
              </a:rPr>
              <a:t> Estimation of mass of microplastics ingested. J. Hazardous Materials, 404, 124004.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612648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1">
                <a:solidFill>
                  <a:srgbClr val="E6EDF7"/>
                </a:solidFill>
                <a:latin typeface="Calibri"/>
              </a:rPr>
              <a:t>Leslie et al. (2022).</a:t>
            </a:r>
            <a:r>
              <a:rPr sz="1050">
                <a:solidFill>
                  <a:srgbClr val="94A3C4"/>
                </a:solidFill>
                <a:latin typeface="Calibri"/>
              </a:rPr>
              <a:t> Discovery and quantification of plastic particle pollution in human blood. Environment Int'l, 163, 107199.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88920"/>
            <a:ext cx="612648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1">
                <a:solidFill>
                  <a:srgbClr val="E6EDF7"/>
                </a:solidFill>
                <a:latin typeface="Calibri"/>
              </a:rPr>
              <a:t>Cox et al. (2019).</a:t>
            </a:r>
            <a:r>
              <a:rPr sz="1050">
                <a:solidFill>
                  <a:srgbClr val="94A3C4"/>
                </a:solidFill>
                <a:latin typeface="Calibri"/>
              </a:rPr>
              <a:t> Human Consumption of Microplastics. Environmental Science &amp; Technology, 53(12), 7068–7074.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46120"/>
            <a:ext cx="612648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1">
                <a:solidFill>
                  <a:srgbClr val="E6EDF7"/>
                </a:solidFill>
                <a:latin typeface="Calibri"/>
              </a:rPr>
              <a:t>WHO (2019).</a:t>
            </a:r>
            <a:r>
              <a:rPr sz="1050">
                <a:solidFill>
                  <a:srgbClr val="94A3C4"/>
                </a:solidFill>
                <a:latin typeface="Calibri"/>
              </a:rPr>
              <a:t> Microplastics in drinking-water. Geneva: World Health Organization.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03320"/>
            <a:ext cx="612648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1">
                <a:solidFill>
                  <a:srgbClr val="E6EDF7"/>
                </a:solidFill>
                <a:latin typeface="Calibri"/>
              </a:rPr>
              <a:t>NOAA Marine Debris Program (2023).</a:t>
            </a:r>
            <a:r>
              <a:rPr sz="1050">
                <a:solidFill>
                  <a:srgbClr val="94A3C4"/>
                </a:solidFill>
                <a:latin typeface="Calibri"/>
              </a:rPr>
              <a:t> Garbage Patches &amp; Microplastic Pollution Fact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60520"/>
            <a:ext cx="612648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1">
                <a:solidFill>
                  <a:srgbClr val="E6EDF7"/>
                </a:solidFill>
                <a:latin typeface="Calibri"/>
              </a:rPr>
              <a:t>U.S. EPA (2024).</a:t>
            </a:r>
            <a:r>
              <a:rPr sz="1050">
                <a:solidFill>
                  <a:srgbClr val="94A3C4"/>
                </a:solidFill>
                <a:latin typeface="Calibri"/>
              </a:rPr>
              <a:t> Safe Drinking Water Information System (SDWIS). epa.gov/sdwis.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17720"/>
            <a:ext cx="612648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1">
                <a:solidFill>
                  <a:srgbClr val="E6EDF7"/>
                </a:solidFill>
                <a:latin typeface="Calibri"/>
              </a:rPr>
              <a:t>California SWRCB (2022).</a:t>
            </a:r>
            <a:r>
              <a:rPr sz="1050">
                <a:solidFill>
                  <a:srgbClr val="94A3C4"/>
                </a:solidFill>
                <a:latin typeface="Calibri"/>
              </a:rPr>
              <a:t> Senate Bill 1422 — Microplastics in Drinking Water.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74920"/>
            <a:ext cx="612648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1">
                <a:solidFill>
                  <a:srgbClr val="E6EDF7"/>
                </a:solidFill>
                <a:latin typeface="Calibri"/>
              </a:rPr>
              <a:t>Grand View Research (2024).</a:t>
            </a:r>
            <a:r>
              <a:rPr sz="1050">
                <a:solidFill>
                  <a:srgbClr val="94A3C4"/>
                </a:solidFill>
                <a:latin typeface="Calibri"/>
              </a:rPr>
              <a:t> Microplastic Detection Market Report 2024–2032.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532120"/>
            <a:ext cx="612648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1">
                <a:solidFill>
                  <a:srgbClr val="E6EDF7"/>
                </a:solidFill>
                <a:latin typeface="Calibri"/>
              </a:rPr>
              <a:t>Jocher et al. (2023).</a:t>
            </a:r>
            <a:r>
              <a:rPr sz="1050">
                <a:solidFill>
                  <a:srgbClr val="94A3C4"/>
                </a:solidFill>
                <a:latin typeface="Calibri"/>
              </a:rPr>
              <a:t> Ultralytics YOLOv8. github.com/ultralytics/ultralytics.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097280"/>
            <a:ext cx="4297680" cy="5120640"/>
          </a:xfrm>
          <a:prstGeom prst="roundRect">
            <a:avLst>
              <a:gd name="adj" fmla="val 6000"/>
            </a:avLst>
          </a:prstGeom>
          <a:solidFill>
            <a:srgbClr val="10173A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463040"/>
            <a:ext cx="3749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Calibri"/>
              </a:rP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103120"/>
            <a:ext cx="374904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E6EDF7"/>
                </a:solidFill>
                <a:latin typeface="Calibri"/>
              </a:rPr>
              <a:t>Let's make the
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22D3EE"/>
                </a:solidFill>
                <a:latin typeface="Calibri"/>
              </a:rPr>
              <a:t>invisible,
accountable.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480560"/>
            <a:ext cx="3749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94A3C4"/>
                </a:solidFill>
                <a:latin typeface="Calibri"/>
              </a:rPr>
              <a:t>Questions? Pilot interest? Want a demo for your school, lab, utility or QA team?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5349240"/>
            <a:ext cx="3749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6EDF7"/>
                </a:solidFill>
                <a:latin typeface="Calibri"/>
              </a:rPr>
              <a:t>Bhavish Jagani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5715000"/>
            <a:ext cx="3749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4A3C4"/>
                </a:solidFill>
                <a:latin typeface="Calibri"/>
              </a:rPr>
              <a:t>Bellarmine College Preparatory  ·  San Jose, 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