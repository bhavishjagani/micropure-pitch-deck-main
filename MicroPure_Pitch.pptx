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22D3E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4114800"/>
            <a:ext cx="5486400" cy="5486400"/>
          </a:xfrm>
          <a:prstGeom prst="ellipse">
            <a:avLst/>
          </a:prstGeom>
          <a:solidFill>
            <a:srgbClr val="A78BF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61264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48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MICROPURE AI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E6EDF7"/>
                </a:solidFill>
                <a:latin typeface="Calibri"/>
              </a:rPr>
              <a:t>See the unseen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22D3EE"/>
                </a:solidFill>
                <a:latin typeface="Calibri"/>
              </a:rPr>
              <a:t>threat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>
                <a:solidFill>
                  <a:srgbClr val="E6EDF7"/>
                </a:solidFill>
                <a:latin typeface="Calibri"/>
              </a:rPr>
              <a:t>
in our water.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91440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94A3C4"/>
                </a:solidFill>
                <a:latin typeface="Calibri"/>
              </a:rPr>
              <a:t>AI-powered microplastic detection that turns any microscope image
into a quantified water-safety risk score — in under a second, on your own laptop.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49240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092C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223113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YOLOv8 · Computer 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8376" y="5349240"/>
            <a:ext cx="2619756" cy="292608"/>
          </a:xfrm>
          <a:prstGeom prst="roundRect">
            <a:avLst>
              <a:gd name="adj" fmla="val 50000"/>
            </a:avLst>
          </a:prstGeom>
          <a:solidFill>
            <a:srgbClr val="1F183A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5349240"/>
            <a:ext cx="261975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FastAPI · Real-time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5292" y="5349240"/>
            <a:ext cx="2386584" cy="292608"/>
          </a:xfrm>
          <a:prstGeom prst="roundRect">
            <a:avLst>
              <a:gd name="adj" fmla="val 50000"/>
            </a:avLst>
          </a:prstGeom>
          <a:solidFill>
            <a:srgbClr val="092C22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5292" y="5349240"/>
            <a:ext cx="2386584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100% local · Privacy-first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C4"/>
                </a:solidFill>
                <a:latin typeface="Calibri"/>
              </a:rPr>
              <a:t>Built by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E6EDF7"/>
                </a:solidFill>
                <a:latin typeface="Calibri"/>
              </a:rPr>
              <a:t>Bhavish Jagani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C4"/>
                </a:solidFill>
                <a:latin typeface="Calibri"/>
              </a:rPr>
              <a:t> · 9th Grade · Bellarmine College Preparatory · San Jose, 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E6EDF7"/>
                </a:solidFill>
                <a:latin typeface="Calibri"/>
              </a:rPr>
              <a:t>You drink a credit card of plastic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Calibri"/>
              </a:rPr>
              <a:t>every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766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94A3C4"/>
                </a:solidFill>
                <a:latin typeface="Calibri"/>
              </a:rPr>
              <a:t>Microplastics are now in our oceans, soil, food, blood, and lungs — under 5 mm, invisible, and almost impossible to count without expensive lab equipment. Detection is the bottleneck. You can't fix what you can't measure.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041648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Calibri"/>
              </a:rPr>
              <a:t>5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plastic ingested per person per week (Senathirajah, 2021)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393192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4041648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A78BFA"/>
                </a:solidFill>
                <a:latin typeface="Calibri"/>
              </a:rPr>
              <a:t>24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70916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microplastic particles already in our oceans (NOAA, 2023)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931920"/>
            <a:ext cx="2103120" cy="16916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4041648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B7185"/>
                </a:solidFill>
                <a:latin typeface="Calibri"/>
              </a:rPr>
              <a:t>80 %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709160"/>
            <a:ext cx="1828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of human blood samples tested contain microplastics (Leslie, 2022)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194560"/>
            <a:ext cx="3931920" cy="393192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09560" y="2423160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092C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423160"/>
            <a:ext cx="223113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Why nobody is solving it</a:t>
            </a:r>
          </a:p>
        </p:txBody>
      </p:sp>
      <p:sp>
        <p:nvSpPr>
          <p:cNvPr id="19" name="Oval 18"/>
          <p:cNvSpPr/>
          <p:nvPr/>
        </p:nvSpPr>
        <p:spPr>
          <a:xfrm>
            <a:off x="7955280" y="306324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971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Lab equipment costs $100k+</a:t>
            </a:r>
            <a:r>
              <a:rPr sz="1200">
                <a:solidFill>
                  <a:srgbClr val="94A3C4"/>
                </a:solidFill>
                <a:latin typeface="Calibri"/>
              </a:rPr>
              <a:t> — out of reach for schools, NGOs and most utilities.</a:t>
            </a:r>
          </a:p>
        </p:txBody>
      </p:sp>
      <p:sp>
        <p:nvSpPr>
          <p:cNvPr id="21" name="Oval 20"/>
          <p:cNvSpPr/>
          <p:nvPr/>
        </p:nvSpPr>
        <p:spPr>
          <a:xfrm>
            <a:off x="7955280" y="3626104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5346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Manual microscopy takes hours</a:t>
            </a:r>
            <a:r>
              <a:rPr sz="1200">
                <a:solidFill>
                  <a:srgbClr val="94A3C4"/>
                </a:solidFill>
                <a:latin typeface="Calibri"/>
              </a:rPr>
              <a:t> and needs a trained technician.</a:t>
            </a:r>
          </a:p>
        </p:txBody>
      </p:sp>
      <p:sp>
        <p:nvSpPr>
          <p:cNvPr id="23" name="Oval 22"/>
          <p:cNvSpPr/>
          <p:nvPr/>
        </p:nvSpPr>
        <p:spPr>
          <a:xfrm>
            <a:off x="7955280" y="4188968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0975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Cloud AI tools want your data</a:t>
            </a:r>
            <a:r>
              <a:rPr sz="1200">
                <a:solidFill>
                  <a:srgbClr val="94A3C4"/>
                </a:solidFill>
                <a:latin typeface="Calibri"/>
              </a:rPr>
              <a:t> — privacy and bandwidth are real blockers.</a:t>
            </a:r>
          </a:p>
        </p:txBody>
      </p:sp>
      <p:sp>
        <p:nvSpPr>
          <p:cNvPr id="25" name="Oval 24"/>
          <p:cNvSpPr/>
          <p:nvPr/>
        </p:nvSpPr>
        <p:spPr>
          <a:xfrm>
            <a:off x="7955280" y="4751832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6603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Raw counts mean nothing</a:t>
            </a:r>
            <a:r>
              <a:rPr sz="1200">
                <a:solidFill>
                  <a:srgbClr val="94A3C4"/>
                </a:solidFill>
                <a:latin typeface="Calibri"/>
              </a:rPr>
              <a:t> to a parent, teacher, or city council.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02 ·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E6EDF7"/>
                </a:solidFill>
                <a:latin typeface="Calibri"/>
              </a:rPr>
              <a:t>Point a microscope. Drop the image.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22D3EE"/>
                </a:solidFill>
                <a:latin typeface="Calibri"/>
              </a:rPr>
              <a:t>Get a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400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94A3C4"/>
                </a:solidFill>
                <a:latin typeface="Calibri"/>
              </a:rPr>
              <a:t>MicroPure AI is a browser-based dashboard backed by a YOLOv8 detector trained on microplastic imagery. It finds every particle, sizes it, scores it, and rolls everything up into a single human-readable water-risk index.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64992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5070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E6EDF7"/>
                </a:solidFill>
                <a:latin typeface="Calibr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94A3C4"/>
                </a:solidFill>
                <a:latin typeface="Calibri"/>
              </a:rPr>
              <a:t>YOLOv8 finds particles down to a few pixels and classifies size.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2004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23360" y="338328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3364992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5070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E6EDF7"/>
                </a:solidFill>
                <a:latin typeface="Calibri"/>
              </a:rPr>
              <a:t>Quantify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88620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94A3C4"/>
                </a:solidFill>
                <a:latin typeface="Calibri"/>
              </a:rPr>
              <a:t>Per-particle confidence, area, and density per megapixel.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19472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5070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E6EDF7"/>
                </a:solidFill>
                <a:latin typeface="Calibri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94A3C4"/>
                </a:solidFill>
                <a:latin typeface="Calibri"/>
              </a:rPr>
              <a:t>4-factor risk index (count, confidence, density, size).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47548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23360" y="4937760"/>
            <a:ext cx="411480" cy="4114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4919472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5070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377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E6EDF7"/>
                </a:solidFill>
                <a:latin typeface="Calibri"/>
              </a:rPr>
              <a:t>Local-first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44068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94A3C4"/>
                </a:solidFill>
                <a:latin typeface="Calibri"/>
              </a:rPr>
              <a:t>Runs on your laptop. Images never leave your machine.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194560"/>
            <a:ext cx="4434840" cy="4206240"/>
          </a:xfrm>
          <a:prstGeom prst="roundRect">
            <a:avLst>
              <a:gd name="adj" fmla="val 6000"/>
            </a:avLst>
          </a:prstGeom>
          <a:solidFill>
            <a:srgbClr val="05070F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naly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97480"/>
            <a:ext cx="4160520" cy="214933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543800" y="2377440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092C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377440"/>
            <a:ext cx="18425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Live · Analyze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03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E6EDF7"/>
                </a:solidFill>
                <a:latin typeface="Calibri"/>
              </a:rPr>
              <a:t>From upload to risk score,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22D3EE"/>
                </a:solidFill>
                <a:latin typeface="Calibri"/>
              </a:rPr>
              <a:t>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7498079" cy="4206240"/>
          </a:xfrm>
          <a:prstGeom prst="roundRect">
            <a:avLst>
              <a:gd name="adj" fmla="val 4000"/>
            </a:avLst>
          </a:prstGeom>
          <a:solidFill>
            <a:srgbClr val="080C1E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49039" y="342900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 rot="1800000">
            <a:off x="4133087" y="3703320"/>
            <a:ext cx="411480" cy="502920"/>
          </a:xfrm>
          <a:prstGeom prst="rtTriangle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7498079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E6EDF7"/>
                </a:solidFill>
                <a:latin typeface="Calibri"/>
              </a:rPr>
              <a:t>INSERT DEMO VIDEO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749807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C4"/>
                </a:solidFill>
                <a:latin typeface="Calibri"/>
              </a:rPr>
              <a:t>Insert &gt; Video &gt; This Device  ·  ~45–60 seconds, full upload → boxes → gauge →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429000" cy="42062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2331720"/>
            <a:ext cx="1531620" cy="292608"/>
          </a:xfrm>
          <a:prstGeom prst="roundRect">
            <a:avLst>
              <a:gd name="adj" fmla="val 50000"/>
            </a:avLst>
          </a:prstGeom>
          <a:solidFill>
            <a:srgbClr val="1F183A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15316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What you'll see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297180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8803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Drop</a:t>
            </a:r>
            <a:r>
              <a:rPr sz="1200">
                <a:solidFill>
                  <a:srgbClr val="94A3C4"/>
                </a:solidFill>
                <a:latin typeface="Calibri"/>
              </a:rPr>
              <a:t> a microscope image into the dashboard.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3291332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19989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Bounding boxes</a:t>
            </a:r>
            <a:r>
              <a:rPr sz="1200">
                <a:solidFill>
                  <a:srgbClr val="94A3C4"/>
                </a:solidFill>
                <a:latin typeface="Calibri"/>
              </a:rPr>
              <a:t> appear in under one second.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3610864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519424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Risk gauge</a:t>
            </a:r>
            <a:r>
              <a:rPr sz="1200">
                <a:solidFill>
                  <a:srgbClr val="94A3C4"/>
                </a:solidFill>
                <a:latin typeface="Calibri"/>
              </a:rPr>
              <a:t> animates to a 0–100 score with plain advice.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0" y="3930396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838956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Charts</a:t>
            </a:r>
            <a:r>
              <a:rPr sz="1200">
                <a:solidFill>
                  <a:srgbClr val="94A3C4"/>
                </a:solidFill>
                <a:latin typeface="Calibri"/>
              </a:rPr>
              <a:t> show size profile and risk components.</a:t>
            </a:r>
          </a:p>
        </p:txBody>
      </p:sp>
      <p:sp>
        <p:nvSpPr>
          <p:cNvPr id="22" name="Oval 21"/>
          <p:cNvSpPr/>
          <p:nvPr/>
        </p:nvSpPr>
        <p:spPr>
          <a:xfrm>
            <a:off x="8503920" y="4249928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15848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E6EDF7"/>
                </a:solidFill>
                <a:latin typeface="Calibri"/>
              </a:rPr>
              <a:t>Export</a:t>
            </a:r>
            <a:r>
              <a:rPr sz="1200">
                <a:solidFill>
                  <a:srgbClr val="94A3C4"/>
                </a:solidFill>
                <a:latin typeface="Calibri"/>
              </a:rPr>
              <a:t> to PDF / CSV — saved locally.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04 · PRODUCT EVALUATION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E6EDF7"/>
                </a:solidFill>
                <a:latin typeface="Calibri"/>
              </a:rPr>
              <a:t>We surveyed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22D3EE"/>
                </a:solidFill>
                <a:latin typeface="Calibri"/>
              </a:rPr>
              <a:t>100 students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E6EDF7"/>
                </a:solidFill>
                <a:latin typeface="Calibri"/>
              </a:rPr>
              <a:t> — and they want this.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Calibri"/>
              </a:rPr>
              <a:t>87 %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are concerned about microplastics in their tap water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1031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21284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A78BFA"/>
                </a:solidFill>
                <a:latin typeface="Calibri"/>
              </a:rPr>
              <a:t>92 %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88036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would use a free MicroPure scan if available at school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1031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21284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4D399"/>
                </a:solidFill>
                <a:latin typeface="Calibri"/>
              </a:rPr>
              <a:t>+58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88036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jump in self-rated awareness after a 2-min demo (31 → 89%)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21031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221284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BBF24"/>
                </a:solidFill>
                <a:latin typeface="Calibri"/>
              </a:rPr>
              <a:t>64 %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2880360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would pay $5/mo for ongoing household water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6949440" cy="26060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931919"/>
            <a:ext cx="2308860" cy="292608"/>
          </a:xfrm>
          <a:prstGeom prst="roundRect">
            <a:avLst>
              <a:gd name="adj" fmla="val 50000"/>
            </a:avLst>
          </a:prstGeom>
          <a:solidFill>
            <a:srgbClr val="092C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31919"/>
            <a:ext cx="23088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Interviews &amp; Testimonials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79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— 11th-grade student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82311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alibri"/>
              </a:rPr>
              <a:t>“The risk score makes the data actually mean something.”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39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— Bellarmine biology teacher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76671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alibri"/>
              </a:rPr>
              <a:t>“First AI demo I'd run in a freshman classroom tomorrow.”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4999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— Research mentor, Stanford ESE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71031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alibri"/>
              </a:rPr>
              <a:t>“Risk-component breakdown is the right call. Single confidences mislead lay users.”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749039"/>
            <a:ext cx="3931920" cy="26060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09560" y="3931919"/>
            <a:ext cx="1842516" cy="292608"/>
          </a:xfrm>
          <a:prstGeom prst="roundRect">
            <a:avLst>
              <a:gd name="adj" fmla="val 50000"/>
            </a:avLst>
          </a:prstGeom>
          <a:solidFill>
            <a:srgbClr val="1F183A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931919"/>
            <a:ext cx="184251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Personal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434839"/>
            <a:ext cx="33832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alibri"/>
              </a:rPr>
              <a:t>I drink the same school water every day. Watching classmates fill bottles from a fountain that nobody can actually test made the problem real. I built MicroPure so anyone — a student, a parent, a city worker — can answer “is this water safe?” without needing a $100k lab. Every survey response confirmed I'm not the only one asking.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05 · WHY MICROPURE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E6EDF7"/>
                </a:solidFill>
                <a:latin typeface="Calibri"/>
              </a:rPr>
              <a:t>The lab is too slow. The cloud is too greedy.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Calibri"/>
              </a:rPr>
              <a:t>We're neither.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595360" cy="384048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463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51460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FTIR / Raman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514600"/>
            <a:ext cx="1691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Manual microscopy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514600"/>
            <a:ext cx="1691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Cloud AI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51460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MicroPure AI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971800"/>
            <a:ext cx="8229600" cy="0"/>
          </a:xfrm>
          <a:prstGeom prst="line">
            <a:avLst/>
          </a:prstGeom>
          <a:ln w="6350">
            <a:solidFill>
              <a:srgbClr val="2A3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127248"/>
            <a:ext cx="14630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Cost to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27248"/>
            <a:ext cx="15544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$100k+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27248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BF24"/>
                </a:solidFill>
                <a:latin typeface="Calibri"/>
              </a:rPr>
              <a:t>Microscope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127248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BF24"/>
                </a:solidFill>
                <a:latin typeface="Calibri"/>
              </a:rPr>
              <a:t>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27248"/>
            <a:ext cx="182880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4D399"/>
                </a:solidFill>
                <a:latin typeface="Calibri"/>
              </a:rPr>
              <a:t>Free + open source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3575304"/>
            <a:ext cx="8229600" cy="0"/>
          </a:xfrm>
          <a:prstGeom prst="line">
            <a:avLst/>
          </a:prstGeom>
          <a:ln w="6350">
            <a:solidFill>
              <a:srgbClr val="2A3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730752"/>
            <a:ext cx="14630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Time per 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730752"/>
            <a:ext cx="15544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Hours –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730752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30–90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730752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BF24"/>
                </a:solidFill>
                <a:latin typeface="Calibri"/>
              </a:rPr>
              <a:t>Seconds (after upload)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30752"/>
            <a:ext cx="182880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4D399"/>
                </a:solidFill>
                <a:latin typeface="Calibri"/>
              </a:rPr>
              <a:t>&lt; 1 sec, local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4178808"/>
            <a:ext cx="8229600" cy="0"/>
          </a:xfrm>
          <a:prstGeom prst="line">
            <a:avLst/>
          </a:prstGeom>
          <a:ln w="6350">
            <a:solidFill>
              <a:srgbClr val="2A3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4334256"/>
            <a:ext cx="14630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Skill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334256"/>
            <a:ext cx="15544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PhD chemist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334256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Trained 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334256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BF24"/>
                </a:solidFill>
                <a:latin typeface="Calibri"/>
              </a:rPr>
              <a:t>API integrator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334256"/>
            <a:ext cx="182880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4D399"/>
                </a:solidFill>
                <a:latin typeface="Calibri"/>
              </a:rPr>
              <a:t>Anyone with a browser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4782312"/>
            <a:ext cx="8229600" cy="0"/>
          </a:xfrm>
          <a:prstGeom prst="line">
            <a:avLst/>
          </a:prstGeom>
          <a:ln w="6350">
            <a:solidFill>
              <a:srgbClr val="2A3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4937760"/>
            <a:ext cx="14630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937760"/>
            <a:ext cx="15544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4D399"/>
                </a:solidFill>
                <a:latin typeface="Calibri"/>
              </a:rPr>
              <a:t>On-prem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4937760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4D399"/>
                </a:solidFill>
                <a:latin typeface="Calibri"/>
              </a:rPr>
              <a:t>On-prem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937760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Images leave device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937760"/>
            <a:ext cx="182880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4D399"/>
                </a:solidFill>
                <a:latin typeface="Calibri"/>
              </a:rPr>
              <a:t>100% local inference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" y="5385816"/>
            <a:ext cx="8229600" cy="0"/>
          </a:xfrm>
          <a:prstGeom prst="line">
            <a:avLst/>
          </a:prstGeom>
          <a:ln w="6350">
            <a:solidFill>
              <a:srgbClr val="2A3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1520" y="5541264"/>
            <a:ext cx="14630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Risk interpretation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541264"/>
            <a:ext cx="155448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Raw spectra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5541264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7185"/>
                </a:solidFill>
                <a:latin typeface="Calibri"/>
              </a:rPr>
              <a:t>Raw counts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5541264"/>
            <a:ext cx="169164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FBBF24"/>
                </a:solidFill>
                <a:latin typeface="Calibri"/>
              </a:rPr>
              <a:t>Raw counts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541264"/>
            <a:ext cx="182880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34D399"/>
                </a:solidFill>
                <a:latin typeface="Calibri"/>
              </a:rPr>
              <a:t>4-factor scored index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0" y="2286000"/>
            <a:ext cx="2377440" cy="384048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509760" y="24688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092C22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2468880"/>
            <a:ext cx="987552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Our moat</a:t>
            </a:r>
          </a:p>
        </p:txBody>
      </p:sp>
      <p:sp>
        <p:nvSpPr>
          <p:cNvPr id="45" name="Oval 44"/>
          <p:cNvSpPr/>
          <p:nvPr/>
        </p:nvSpPr>
        <p:spPr>
          <a:xfrm>
            <a:off x="9555480" y="31546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E6EDF7"/>
                </a:solidFill>
                <a:latin typeface="Calibri"/>
              </a:rPr>
              <a:t>4-factor risk model</a:t>
            </a:r>
            <a:r>
              <a:rPr sz="1100">
                <a:solidFill>
                  <a:srgbClr val="94A3C4"/>
                </a:solidFill>
                <a:latin typeface="Calibri"/>
              </a:rPr>
              <a:t> — one box ≠ 100%.</a:t>
            </a:r>
          </a:p>
        </p:txBody>
      </p:sp>
      <p:sp>
        <p:nvSpPr>
          <p:cNvPr id="47" name="Oval 46"/>
          <p:cNvSpPr/>
          <p:nvPr/>
        </p:nvSpPr>
        <p:spPr>
          <a:xfrm>
            <a:off x="9555480" y="3461512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33700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E6EDF7"/>
                </a:solidFill>
                <a:latin typeface="Calibri"/>
              </a:rPr>
              <a:t>Privacy by architecture</a:t>
            </a:r>
            <a:r>
              <a:rPr sz="1100">
                <a:solidFill>
                  <a:srgbClr val="94A3C4"/>
                </a:solidFill>
                <a:latin typeface="Calibri"/>
              </a:rPr>
              <a:t> — inference local.</a:t>
            </a:r>
          </a:p>
        </p:txBody>
      </p:sp>
      <p:sp>
        <p:nvSpPr>
          <p:cNvPr id="49" name="Oval 48"/>
          <p:cNvSpPr/>
          <p:nvPr/>
        </p:nvSpPr>
        <p:spPr>
          <a:xfrm>
            <a:off x="9555480" y="3768344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367690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E6EDF7"/>
                </a:solidFill>
                <a:latin typeface="Calibri"/>
              </a:rPr>
              <a:t>Education-grade UX</a:t>
            </a:r>
            <a:r>
              <a:rPr sz="1100">
                <a:solidFill>
                  <a:srgbClr val="94A3C4"/>
                </a:solidFill>
                <a:latin typeface="Calibri"/>
              </a:rPr>
              <a:t> — drag, drop, done.</a:t>
            </a:r>
          </a:p>
        </p:txBody>
      </p:sp>
      <p:sp>
        <p:nvSpPr>
          <p:cNvPr id="51" name="Oval 50"/>
          <p:cNvSpPr/>
          <p:nvPr/>
        </p:nvSpPr>
        <p:spPr>
          <a:xfrm>
            <a:off x="9555480" y="4075176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38360" y="398373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E6EDF7"/>
                </a:solidFill>
                <a:latin typeface="Calibri"/>
              </a:rPr>
              <a:t>Open dataset flywheel</a:t>
            </a:r>
            <a:r>
              <a:rPr sz="1100">
                <a:solidFill>
                  <a:srgbClr val="94A3C4"/>
                </a:solidFill>
                <a:latin typeface="Calibri"/>
              </a:rPr>
              <a:t> competitors can't copy.</a:t>
            </a:r>
          </a:p>
        </p:txBody>
      </p:sp>
      <p:sp>
        <p:nvSpPr>
          <p:cNvPr id="53" name="Oval 52"/>
          <p:cNvSpPr/>
          <p:nvPr/>
        </p:nvSpPr>
        <p:spPr>
          <a:xfrm>
            <a:off x="9555480" y="4382008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8360" y="42905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E6EDF7"/>
                </a:solidFill>
                <a:latin typeface="Calibri"/>
              </a:rPr>
              <a:t>Founder-fit</a:t>
            </a:r>
            <a:r>
              <a:rPr sz="1100">
                <a:solidFill>
                  <a:srgbClr val="94A3C4"/>
                </a:solidFill>
                <a:latin typeface="Calibri"/>
              </a:rPr>
              <a:t> — built by the audience.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06 · TARGET MARKETS &amp;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E6EDF7"/>
                </a:solidFill>
                <a:latin typeface="Calibri"/>
              </a:rPr>
              <a:t>Where the spend already lives — and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22D3EE"/>
                </a:solidFill>
                <a:latin typeface="Calibri"/>
              </a:rPr>
              <a:t>how we monetize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Calibri"/>
              </a:rPr>
              <a:t>$1.7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TAM · global microplastic-relevant water testing / yr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75888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A78BFA"/>
                </a:solidFill>
                <a:latin typeface="Calibri"/>
              </a:rPr>
              <a:t>$420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SAM · 5-yr serviceable US utilities, labs, EDU &amp; beverage 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3291840" cy="132588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30175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4D399"/>
                </a:solidFill>
                <a:latin typeface="Calibri"/>
              </a:rPr>
              <a:t>$22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3017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SOM · 3-yr obtainable with EDU-led GTM + 200 paying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103120"/>
            <a:ext cx="2468880" cy="416052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286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4A3C4"/>
                </a:solidFill>
                <a:latin typeface="Calibri"/>
              </a:rP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060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22D3EE"/>
                </a:solidFill>
                <a:latin typeface="Calibri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Citizen scientists, students, NGOs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0" y="4069079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3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Local app, unlimited scans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4350511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59071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Community Discord</a:t>
            </a:r>
          </a:p>
        </p:txBody>
      </p:sp>
      <p:sp>
        <p:nvSpPr>
          <p:cNvPr id="23" name="Oval 22"/>
          <p:cNvSpPr/>
          <p:nvPr/>
        </p:nvSpPr>
        <p:spPr>
          <a:xfrm>
            <a:off x="4389120" y="4631943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40503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Open dataset access</a:t>
            </a:r>
          </a:p>
        </p:txBody>
      </p:sp>
      <p:sp>
        <p:nvSpPr>
          <p:cNvPr id="25" name="Oval 24"/>
          <p:cNvSpPr/>
          <p:nvPr/>
        </p:nvSpPr>
        <p:spPr>
          <a:xfrm>
            <a:off x="4389120" y="4913375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82193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JSON / CSV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2103120"/>
            <a:ext cx="2468880" cy="4160520"/>
          </a:xfrm>
          <a:prstGeom prst="roundRect">
            <a:avLst>
              <a:gd name="adj" fmla="val 6000"/>
            </a:avLst>
          </a:prstGeom>
          <a:solidFill>
            <a:srgbClr val="10173A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286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4A3C4"/>
                </a:solidFill>
                <a:latin typeface="Calibri"/>
              </a:rPr>
              <a:t>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060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Calibri"/>
              </a:rPr>
              <a:t>$9 /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2918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Educators, household water-watchers</a:t>
            </a:r>
          </a:p>
        </p:txBody>
      </p:sp>
      <p:sp>
        <p:nvSpPr>
          <p:cNvPr id="31" name="Oval 30"/>
          <p:cNvSpPr/>
          <p:nvPr/>
        </p:nvSpPr>
        <p:spPr>
          <a:xfrm>
            <a:off x="6995160" y="4069079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3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Cloud sync &amp; history</a:t>
            </a:r>
          </a:p>
        </p:txBody>
      </p:sp>
      <p:sp>
        <p:nvSpPr>
          <p:cNvPr id="33" name="Oval 32"/>
          <p:cNvSpPr/>
          <p:nvPr/>
        </p:nvSpPr>
        <p:spPr>
          <a:xfrm>
            <a:off x="6995160" y="4350511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259071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Comparative reports</a:t>
            </a:r>
          </a:p>
        </p:txBody>
      </p:sp>
      <p:sp>
        <p:nvSpPr>
          <p:cNvPr id="35" name="Oval 34"/>
          <p:cNvSpPr/>
          <p:nvPr/>
        </p:nvSpPr>
        <p:spPr>
          <a:xfrm>
            <a:off x="6995160" y="4631943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4540503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Branded PDF exports</a:t>
            </a:r>
          </a:p>
        </p:txBody>
      </p:sp>
      <p:sp>
        <p:nvSpPr>
          <p:cNvPr id="37" name="Oval 36"/>
          <p:cNvSpPr/>
          <p:nvPr/>
        </p:nvSpPr>
        <p:spPr>
          <a:xfrm>
            <a:off x="6995160" y="4913375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482193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Priority email support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2103120"/>
            <a:ext cx="2468880" cy="416052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22860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4A3C4"/>
                </a:solidFill>
                <a:latin typeface="Calibri"/>
              </a:rPr>
              <a:t>TEAM /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6060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34D399"/>
                </a:solidFill>
                <a:latin typeface="Calibri"/>
              </a:rPr>
              <a:t>$99+ / 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329184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94A3C4"/>
                </a:solidFill>
                <a:latin typeface="Calibri"/>
              </a:rPr>
              <a:t>Labs, utilities, beverage QA, OEMs</a:t>
            </a:r>
          </a:p>
        </p:txBody>
      </p:sp>
      <p:sp>
        <p:nvSpPr>
          <p:cNvPr id="43" name="Oval 42"/>
          <p:cNvSpPr/>
          <p:nvPr/>
        </p:nvSpPr>
        <p:spPr>
          <a:xfrm>
            <a:off x="9601200" y="4069079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397763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Multi-seat dashboards &amp; SSO</a:t>
            </a:r>
          </a:p>
        </p:txBody>
      </p:sp>
      <p:sp>
        <p:nvSpPr>
          <p:cNvPr id="45" name="Oval 44"/>
          <p:cNvSpPr/>
          <p:nvPr/>
        </p:nvSpPr>
        <p:spPr>
          <a:xfrm>
            <a:off x="9601200" y="4350511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4259071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API at $0.05 / image</a:t>
            </a:r>
          </a:p>
        </p:txBody>
      </p:sp>
      <p:sp>
        <p:nvSpPr>
          <p:cNvPr id="47" name="Oval 46"/>
          <p:cNvSpPr/>
          <p:nvPr/>
        </p:nvSpPr>
        <p:spPr>
          <a:xfrm>
            <a:off x="9601200" y="4631943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4540503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On-prem &amp; air-gapped</a:t>
            </a:r>
          </a:p>
        </p:txBody>
      </p:sp>
      <p:sp>
        <p:nvSpPr>
          <p:cNvPr id="49" name="Oval 48"/>
          <p:cNvSpPr/>
          <p:nvPr/>
        </p:nvSpPr>
        <p:spPr>
          <a:xfrm>
            <a:off x="9601200" y="4913375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482193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EDF7"/>
                </a:solidFill>
                <a:latin typeface="Calibri"/>
              </a:rPr>
              <a:t>Custom polymer training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07 · COST STRUCTURE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E6EDF7"/>
                </a:solidFill>
                <a:latin typeface="Calibri"/>
              </a:rPr>
              <a:t>Lean spend,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Calibri"/>
              </a:rPr>
              <a:t>staged rollout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E6EDF7"/>
                </a:solidFill>
                <a:latin typeface="Calibri"/>
              </a:rPr>
              <a:t> — every quarter ships a new product and a new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4206240" cy="42062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075688" cy="292608"/>
          </a:xfrm>
          <a:prstGeom prst="roundRect">
            <a:avLst>
              <a:gd name="adj" fmla="val 50000"/>
            </a:avLst>
          </a:prstGeom>
          <a:solidFill>
            <a:srgbClr val="092C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207568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Year-1 cost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DF7"/>
                </a:solidFill>
                <a:latin typeface="Calibri"/>
              </a:rPr>
              <a:t>Engineering · 38%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36392"/>
            <a:ext cx="3749040" cy="164592"/>
          </a:xfrm>
          <a:prstGeom prst="roundRect">
            <a:avLst>
              <a:gd name="adj" fmla="val 50000"/>
            </a:avLst>
          </a:prstGeom>
          <a:solidFill>
            <a:srgbClr val="1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136392"/>
            <a:ext cx="1424635" cy="1645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DF7"/>
                </a:solidFill>
                <a:latin typeface="Calibri"/>
              </a:rPr>
              <a:t>R&amp;D / dataset · 22%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39312"/>
            <a:ext cx="3749040" cy="164592"/>
          </a:xfrm>
          <a:prstGeom prst="roundRect">
            <a:avLst>
              <a:gd name="adj" fmla="val 50000"/>
            </a:avLst>
          </a:prstGeom>
          <a:solidFill>
            <a:srgbClr val="1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639312"/>
            <a:ext cx="824788" cy="1645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DF7"/>
                </a:solidFill>
                <a:latin typeface="Calibri"/>
              </a:rPr>
              <a:t>Compute &amp; hosting · 14%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42232"/>
            <a:ext cx="3749040" cy="164592"/>
          </a:xfrm>
          <a:prstGeom prst="roundRect">
            <a:avLst>
              <a:gd name="adj" fmla="val 50000"/>
            </a:avLst>
          </a:prstGeom>
          <a:solidFill>
            <a:srgbClr val="1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142232"/>
            <a:ext cx="524865" cy="1645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DF7"/>
                </a:solidFill>
                <a:latin typeface="Calibri"/>
              </a:rPr>
              <a:t>Education partnerships · 10%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45152"/>
            <a:ext cx="3749040" cy="164592"/>
          </a:xfrm>
          <a:prstGeom prst="roundRect">
            <a:avLst>
              <a:gd name="adj" fmla="val 50000"/>
            </a:avLst>
          </a:prstGeom>
          <a:solidFill>
            <a:srgbClr val="1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645152"/>
            <a:ext cx="374904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DF7"/>
                </a:solidFill>
                <a:latin typeface="Calibri"/>
              </a:rPr>
              <a:t>Compliance · 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48072"/>
            <a:ext cx="3749040" cy="164592"/>
          </a:xfrm>
          <a:prstGeom prst="roundRect">
            <a:avLst>
              <a:gd name="adj" fmla="val 50000"/>
            </a:avLst>
          </a:prstGeom>
          <a:solidFill>
            <a:srgbClr val="1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5148072"/>
            <a:ext cx="299923" cy="164592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6EDF7"/>
                </a:solidFill>
                <a:latin typeface="Calibri"/>
              </a:rPr>
              <a:t>Marketing &amp; community · 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650992"/>
            <a:ext cx="3749040" cy="164592"/>
          </a:xfrm>
          <a:prstGeom prst="roundRect">
            <a:avLst>
              <a:gd name="adj" fmla="val 50000"/>
            </a:avLst>
          </a:prstGeom>
          <a:solidFill>
            <a:srgbClr val="1A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650992"/>
            <a:ext cx="299923" cy="16459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~80% gross margin  ·  &lt; $0.001 per local scan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2103120"/>
            <a:ext cx="6766560" cy="978408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02352" y="2267712"/>
            <a:ext cx="1051560" cy="649224"/>
          </a:xfrm>
          <a:prstGeom prst="roundRect">
            <a:avLst>
              <a:gd name="adj" fmla="val 18000"/>
            </a:avLst>
          </a:prstGeom>
          <a:solidFill>
            <a:srgbClr val="1018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2304288"/>
            <a:ext cx="1051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3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256032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Free 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267712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FREE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51460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Calibri"/>
              </a:rP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816352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4A3C4"/>
                </a:solidFill>
                <a:latin typeface="Calibri"/>
              </a:rPr>
              <a:t>Local app · open dataset · Discord 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799" y="2267712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799" y="251460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1.5k users  ·  $0 ARR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3172968"/>
            <a:ext cx="6766560" cy="978408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02352" y="3337560"/>
            <a:ext cx="1051560" cy="649224"/>
          </a:xfrm>
          <a:prstGeom prst="roundRect">
            <a:avLst>
              <a:gd name="adj" fmla="val 18000"/>
            </a:avLst>
          </a:prstGeom>
          <a:solidFill>
            <a:srgbClr val="10183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2352" y="3374136"/>
            <a:ext cx="1051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6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3630168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Pro tier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337560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PRO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584448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A78BFA"/>
                </a:solidFill>
                <a:latin typeface="Calibri"/>
              </a:rPr>
              <a:t>$9 / 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886200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4A3C4"/>
                </a:solidFill>
                <a:latin typeface="Calibri"/>
              </a:rPr>
              <a:t>Cloud sync · branded PDF reports · history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799" y="333756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TRACTION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799" y="3584448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8k users · 300 Pro  ·  ~$32K ARR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4242816"/>
            <a:ext cx="6766560" cy="978408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102352" y="4407408"/>
            <a:ext cx="1051560" cy="649224"/>
          </a:xfrm>
          <a:prstGeom prst="roundRect">
            <a:avLst>
              <a:gd name="adj" fmla="val 18000"/>
            </a:avLst>
          </a:prstGeom>
          <a:solidFill>
            <a:srgbClr val="10183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02352" y="4443984"/>
            <a:ext cx="1051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9 MONTHS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2352" y="4700016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Team +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407408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TEAM /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654296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34D399"/>
                </a:solidFill>
                <a:latin typeface="Calibri"/>
              </a:rPr>
              <a:t>$99 / mo  ·  $0.05 / image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956048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4A3C4"/>
                </a:solidFill>
                <a:latin typeface="Calibri"/>
              </a:rPr>
              <a:t>Multi-seat dashboards · API for OEMs / labs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799" y="4407408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TRACTION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799" y="4654296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20k users · 1.2k Pro · 25 Team  ·  ~$160K ARR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0" y="5312664"/>
            <a:ext cx="6766560" cy="978408"/>
          </a:xfrm>
          <a:prstGeom prst="roundRect">
            <a:avLst>
              <a:gd name="adj" fmla="val 6000"/>
            </a:avLst>
          </a:prstGeom>
          <a:solidFill>
            <a:srgbClr val="10173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102352" y="5477256"/>
            <a:ext cx="1051560" cy="649224"/>
          </a:xfrm>
          <a:prstGeom prst="roundRect">
            <a:avLst>
              <a:gd name="adj" fmla="val 18000"/>
            </a:avLst>
          </a:prstGeom>
          <a:solidFill>
            <a:srgbClr val="10183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5513832"/>
            <a:ext cx="1051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12 MONTHS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5769864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Enterprise pilot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477256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ENTERPRISE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724144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BBF24"/>
                </a:solidFill>
                <a:latin typeface="Calibri"/>
              </a:rPr>
              <a:t>$5–50K / yr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6025896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94A3C4"/>
                </a:solidFill>
                <a:latin typeface="Calibri"/>
              </a:rPr>
              <a:t>On-prem / air-gapped · compliance reports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799" y="5477256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94A3C4"/>
                </a:solidFill>
                <a:latin typeface="Calibri"/>
              </a:rPr>
              <a:t>TRACTION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799" y="5724144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E6EDF7"/>
                </a:solidFill>
                <a:latin typeface="Calibri"/>
              </a:rPr>
              <a:t>35k users · 2.5k Pro · 60 Team · 2 Enterprise  ·  ~$420K ARR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08 ·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E6EDF7"/>
                </a:solidFill>
                <a:latin typeface="Calibri"/>
              </a:rPr>
              <a:t>From a counter to a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Calibri"/>
              </a:rPr>
              <a:t>compliance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101830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45389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Now → 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E6EDF7"/>
                </a:solidFill>
                <a:latin typeface="Calibri"/>
              </a:rPr>
              <a:t>Sharper detection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7472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Polymer classification</a:t>
            </a:r>
            <a:r>
              <a:rPr sz="1150">
                <a:solidFill>
                  <a:srgbClr val="94A3C4"/>
                </a:solidFill>
                <a:latin typeface="Calibri"/>
              </a:rPr>
              <a:t> PET / PE / PS / PP / PVC subtypes.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81552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901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Confidence calibration</a:t>
            </a:r>
            <a:r>
              <a:rPr sz="1150">
                <a:solidFill>
                  <a:srgbClr val="94A3C4"/>
                </a:solidFill>
                <a:latin typeface="Calibri"/>
              </a:rPr>
              <a:t> Gauge maps to real probability.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88384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9694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PDF compliance reports</a:t>
            </a:r>
            <a:r>
              <a:rPr sz="1150">
                <a:solidFill>
                  <a:srgbClr val="94A3C4"/>
                </a:solidFill>
                <a:latin typeface="Calibri"/>
              </a:rPr>
              <a:t> EPA / ISO-style signed exports.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10312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53712" y="2286000"/>
            <a:ext cx="1376172" cy="292608"/>
          </a:xfrm>
          <a:prstGeom prst="roundRect">
            <a:avLst>
              <a:gd name="adj" fmla="val 50000"/>
            </a:avLst>
          </a:prstGeom>
          <a:solidFill>
            <a:srgbClr val="10183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286000"/>
            <a:ext cx="1376172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6 → 18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7432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E6EDF7"/>
                </a:solidFill>
                <a:latin typeface="Calibri"/>
              </a:rPr>
              <a:t>New surfaces</a:t>
            </a:r>
          </a:p>
        </p:txBody>
      </p:sp>
      <p:sp>
        <p:nvSpPr>
          <p:cNvPr id="20" name="Oval 19"/>
          <p:cNvSpPr/>
          <p:nvPr/>
        </p:nvSpPr>
        <p:spPr>
          <a:xfrm>
            <a:off x="4599432" y="347472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Mobile app</a:t>
            </a:r>
            <a:r>
              <a:rPr sz="1150">
                <a:solidFill>
                  <a:srgbClr val="94A3C4"/>
                </a:solidFill>
                <a:latin typeface="Calibri"/>
              </a:rPr>
              <a:t> iOS / Android with clip-on microscope.</a:t>
            </a:r>
          </a:p>
        </p:txBody>
      </p:sp>
      <p:sp>
        <p:nvSpPr>
          <p:cNvPr id="22" name="Oval 21"/>
          <p:cNvSpPr/>
          <p:nvPr/>
        </p:nvSpPr>
        <p:spPr>
          <a:xfrm>
            <a:off x="4599432" y="3781552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36901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Public API GA</a:t>
            </a:r>
            <a:r>
              <a:rPr sz="1150">
                <a:solidFill>
                  <a:srgbClr val="94A3C4"/>
                </a:solidFill>
                <a:latin typeface="Calibri"/>
              </a:rPr>
              <a:t> $0.05 / image, OAuth, OpenAPI.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2" y="4088384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399694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IoT smart-microscope</a:t>
            </a:r>
            <a:r>
              <a:rPr sz="1150">
                <a:solidFill>
                  <a:srgbClr val="94A3C4"/>
                </a:solidFill>
                <a:latin typeface="Calibri"/>
              </a:rPr>
              <a:t> Raspberry Pi reference design.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210312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0184" y="228600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10183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2286000"/>
            <a:ext cx="145389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18 → 36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27432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E6EDF7"/>
                </a:solidFill>
                <a:latin typeface="Calibri"/>
              </a:rPr>
              <a:t>Network effects</a:t>
            </a:r>
          </a:p>
        </p:txBody>
      </p:sp>
      <p:sp>
        <p:nvSpPr>
          <p:cNvPr id="30" name="Oval 29"/>
          <p:cNvSpPr/>
          <p:nvPr/>
        </p:nvSpPr>
        <p:spPr>
          <a:xfrm>
            <a:off x="8375904" y="347472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8784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Public risk map</a:t>
            </a:r>
            <a:r>
              <a:rPr sz="1150">
                <a:solidFill>
                  <a:srgbClr val="94A3C4"/>
                </a:solidFill>
                <a:latin typeface="Calibri"/>
              </a:rPr>
              <a:t> Anonymized US community samples.</a:t>
            </a:r>
          </a:p>
        </p:txBody>
      </p:sp>
      <p:sp>
        <p:nvSpPr>
          <p:cNvPr id="32" name="Oval 31"/>
          <p:cNvSpPr/>
          <p:nvPr/>
        </p:nvSpPr>
        <p:spPr>
          <a:xfrm>
            <a:off x="8375904" y="3781552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8784" y="36901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Federated learning</a:t>
            </a:r>
            <a:r>
              <a:rPr sz="1150">
                <a:solidFill>
                  <a:srgbClr val="94A3C4"/>
                </a:solidFill>
                <a:latin typeface="Calibri"/>
              </a:rPr>
              <a:t> Partner labs improve the model privately.</a:t>
            </a:r>
          </a:p>
        </p:txBody>
      </p:sp>
      <p:sp>
        <p:nvSpPr>
          <p:cNvPr id="34" name="Oval 33"/>
          <p:cNvSpPr/>
          <p:nvPr/>
        </p:nvSpPr>
        <p:spPr>
          <a:xfrm>
            <a:off x="8375904" y="4344416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425297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E6EDF7"/>
                </a:solidFill>
                <a:latin typeface="Calibri"/>
              </a:rPr>
              <a:t>Regulatory module</a:t>
            </a:r>
            <a:r>
              <a:rPr sz="1150">
                <a:solidFill>
                  <a:srgbClr val="94A3C4"/>
                </a:solidFill>
                <a:latin typeface="Calibri"/>
              </a:rPr>
              <a:t> Push-button reporting for water boards.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4A3C4"/>
                </a:solidFill>
                <a:latin typeface="Calibri"/>
              </a:rPr>
              <a:t>MicroPure AI  ·  Bhavish Jagani  ·  Bellarmine College Preparatory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22D3E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5212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4A3C4"/>
                </a:solidFill>
                <a:latin typeface="Calibri"/>
              </a:rPr>
              <a:t>09 · REFERENCES  ·  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6583680" cy="5120640"/>
          </a:xfrm>
          <a:prstGeom prst="roundRect">
            <a:avLst>
              <a:gd name="adj" fmla="val 6000"/>
            </a:avLst>
          </a:prstGeom>
          <a:solidFill>
            <a:srgbClr val="0F142C"/>
          </a:solidFill>
          <a:ln w="9525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28016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092C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1298448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Bibliography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Senathirajah et al. (2021).</a:t>
            </a:r>
            <a:r>
              <a:rPr sz="1050">
                <a:solidFill>
                  <a:srgbClr val="94A3C4"/>
                </a:solidFill>
                <a:latin typeface="Calibri"/>
              </a:rPr>
              <a:t> Estimation of mass of microplastics ingested. J. Hazardous Materials, 404, 124004.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Leslie et al. (2022).</a:t>
            </a:r>
            <a:r>
              <a:rPr sz="1050">
                <a:solidFill>
                  <a:srgbClr val="94A3C4"/>
                </a:solidFill>
                <a:latin typeface="Calibri"/>
              </a:rPr>
              <a:t> Discovery and quantification of plastic particle pollution in human blood. Environment Int'l, 163, 107199.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Cox et al. (2019).</a:t>
            </a:r>
            <a:r>
              <a:rPr sz="1050">
                <a:solidFill>
                  <a:srgbClr val="94A3C4"/>
                </a:solidFill>
                <a:latin typeface="Calibri"/>
              </a:rPr>
              <a:t> Human Consumption of Microplastics. Environmental Science &amp; Technology, 53(12), 7068–7074.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WHO (2019).</a:t>
            </a:r>
            <a:r>
              <a:rPr sz="1050">
                <a:solidFill>
                  <a:srgbClr val="94A3C4"/>
                </a:solidFill>
                <a:latin typeface="Calibri"/>
              </a:rPr>
              <a:t> Microplastics in drinking-water. Geneva: World Health Organization.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NOAA Marine Debris Program (2023).</a:t>
            </a:r>
            <a:r>
              <a:rPr sz="1050">
                <a:solidFill>
                  <a:srgbClr val="94A3C4"/>
                </a:solidFill>
                <a:latin typeface="Calibri"/>
              </a:rPr>
              <a:t> Garbage Patches &amp; Microplastic Pollution Fact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U.S. EPA (2024).</a:t>
            </a:r>
            <a:r>
              <a:rPr sz="1050">
                <a:solidFill>
                  <a:srgbClr val="94A3C4"/>
                </a:solidFill>
                <a:latin typeface="Calibri"/>
              </a:rPr>
              <a:t> Safe Drinking Water Information System (SDWIS). epa.gov/sdwis.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California SWRCB (2022).</a:t>
            </a:r>
            <a:r>
              <a:rPr sz="1050">
                <a:solidFill>
                  <a:srgbClr val="94A3C4"/>
                </a:solidFill>
                <a:latin typeface="Calibri"/>
              </a:rPr>
              <a:t> Senate Bill 1422 — Microplastics in Drinking Water.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Grand View Research (2024).</a:t>
            </a:r>
            <a:r>
              <a:rPr sz="1050">
                <a:solidFill>
                  <a:srgbClr val="94A3C4"/>
                </a:solidFill>
                <a:latin typeface="Calibri"/>
              </a:rPr>
              <a:t> Microplastic Detection Market Report 2024–2032.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6126480" cy="4114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E6EDF7"/>
                </a:solidFill>
                <a:latin typeface="Calibri"/>
              </a:rPr>
              <a:t>Jocher et al. (2023).</a:t>
            </a:r>
            <a:r>
              <a:rPr sz="1050">
                <a:solidFill>
                  <a:srgbClr val="94A3C4"/>
                </a:solidFill>
                <a:latin typeface="Calibri"/>
              </a:rPr>
              <a:t> Ultralytics YOLOv8. github.com/ultralytics/ultralytics.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097280"/>
            <a:ext cx="4297680" cy="5120640"/>
          </a:xfrm>
          <a:prstGeom prst="roundRect">
            <a:avLst>
              <a:gd name="adj" fmla="val 6000"/>
            </a:avLst>
          </a:prstGeom>
          <a:solidFill>
            <a:srgbClr val="1017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463040"/>
            <a:ext cx="3749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103120"/>
            <a:ext cx="374904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E6EDF7"/>
                </a:solidFill>
                <a:latin typeface="Calibri"/>
              </a:rPr>
              <a:t>Let's make the
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Calibri"/>
              </a:rPr>
              <a:t>invisible,
accountable.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480560"/>
            <a:ext cx="3749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94A3C4"/>
                </a:solidFill>
                <a:latin typeface="Calibri"/>
              </a:rPr>
              <a:t>Questions? Pilot interest? Want a demo for your school, lab, utility or QA team?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349240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E6EDF7"/>
                </a:solidFill>
                <a:latin typeface="Calibri"/>
              </a:rPr>
              <a:t>Bhavish Jagani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715000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C4"/>
                </a:solidFill>
                <a:latin typeface="Calibri"/>
              </a:rPr>
              <a:t>Bellarmine College Preparatory  ·  San Jose, 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